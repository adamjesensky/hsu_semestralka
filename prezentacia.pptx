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9244" autoAdjust="0"/>
  </p:normalViewPr>
  <p:slideViewPr>
    <p:cSldViewPr snapToGrid="0">
      <p:cViewPr varScale="1">
        <p:scale>
          <a:sx n="111" d="100"/>
          <a:sy n="111" d="100"/>
        </p:scale>
        <p:origin x="2178"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k-S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5ED9A6-47BC-4D10-B275-6EDC41DD2C0F}" type="datetimeFigureOut">
              <a:rPr lang="sk-SK" smtClean="0"/>
              <a:t>2. 6. 2025</a:t>
            </a:fld>
            <a:endParaRPr lang="sk-S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k-S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k-S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k-S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261BB1-0BE5-4643-825D-3FA39CA39386}" type="slidenum">
              <a:rPr lang="sk-SK" smtClean="0"/>
              <a:t>‹#›</a:t>
            </a:fld>
            <a:endParaRPr lang="sk-SK"/>
          </a:p>
        </p:txBody>
      </p:sp>
    </p:spTree>
    <p:extLst>
      <p:ext uri="{BB962C8B-B14F-4D97-AF65-F5344CB8AC3E}">
        <p14:creationId xmlns:p14="http://schemas.microsoft.com/office/powerpoint/2010/main" val="15193114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k-SK" b="0" i="0" dirty="0">
                <a:solidFill>
                  <a:srgbClr val="E2E2E5"/>
                </a:solidFill>
                <a:effectLst/>
                <a:latin typeface="Google Sans Text"/>
              </a:rPr>
              <a:t>Cieľom mojej práce bolo vytvoriť komplexný systém, ktorý by dokázal automaticky zbierať dáta o nehnuteľnostiach, následne ich spracovať a analyzovať, a nakoniec vyvinúť modely schopné predikovať ich ceny. Zameral som sa primárne na segment bytov na predaj a prenájom.</a:t>
            </a:r>
            <a:br>
              <a:rPr lang="sk-SK" dirty="0"/>
            </a:br>
            <a:r>
              <a:rPr lang="sk-SK" b="0" i="0" dirty="0">
                <a:solidFill>
                  <a:srgbClr val="E2E2E5"/>
                </a:solidFill>
                <a:effectLst/>
                <a:latin typeface="Google Sans Text"/>
              </a:rPr>
              <a:t>Motiváciou bolo nielen lepšie porozumieť dynamike realitného trhu a faktorom, ktoré ovplyvňujú ceny, ale aj preskúmať, ako efektívne sa dajú v tejto oblasti využiť techniky hĺbkového strojového učenia.</a:t>
            </a:r>
            <a:br>
              <a:rPr lang="sk-SK" dirty="0"/>
            </a:br>
            <a:r>
              <a:rPr lang="sk-SK" b="0" i="0" dirty="0">
                <a:solidFill>
                  <a:srgbClr val="E2E2E5"/>
                </a:solidFill>
                <a:effectLst/>
                <a:latin typeface="Google Sans Text"/>
              </a:rPr>
              <a:t>Projekt som rozdelil do piatich hlavných fáz, od automatizovaného zberu dát, cez ich dôkladné čistenie a </a:t>
            </a:r>
            <a:r>
              <a:rPr lang="sk-SK" b="0" i="0" dirty="0" err="1">
                <a:solidFill>
                  <a:srgbClr val="E2E2E5"/>
                </a:solidFill>
                <a:effectLst/>
                <a:latin typeface="Google Sans Text"/>
              </a:rPr>
              <a:t>exploratívnu</a:t>
            </a:r>
            <a:r>
              <a:rPr lang="sk-SK" b="0" i="0" dirty="0">
                <a:solidFill>
                  <a:srgbClr val="E2E2E5"/>
                </a:solidFill>
                <a:effectLst/>
                <a:latin typeface="Google Sans Text"/>
              </a:rPr>
              <a:t> analýzu, až po samotné modelovanie pomocou neurónových sietí a vyhodnotenie ich výkonu.</a:t>
            </a:r>
            <a:endParaRPr lang="sk-SK" dirty="0"/>
          </a:p>
        </p:txBody>
      </p:sp>
      <p:sp>
        <p:nvSpPr>
          <p:cNvPr id="4" name="Slide Number Placeholder 3"/>
          <p:cNvSpPr>
            <a:spLocks noGrp="1"/>
          </p:cNvSpPr>
          <p:nvPr>
            <p:ph type="sldNum" sz="quarter" idx="5"/>
          </p:nvPr>
        </p:nvSpPr>
        <p:spPr/>
        <p:txBody>
          <a:bodyPr/>
          <a:lstStyle/>
          <a:p>
            <a:fld id="{A7261BB1-0BE5-4643-825D-3FA39CA39386}" type="slidenum">
              <a:rPr lang="sk-SK" smtClean="0"/>
              <a:t>2</a:t>
            </a:fld>
            <a:endParaRPr lang="sk-SK"/>
          </a:p>
        </p:txBody>
      </p:sp>
    </p:spTree>
    <p:extLst>
      <p:ext uri="{BB962C8B-B14F-4D97-AF65-F5344CB8AC3E}">
        <p14:creationId xmlns:p14="http://schemas.microsoft.com/office/powerpoint/2010/main" val="2791919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k-SK" b="0" i="0" dirty="0">
                <a:solidFill>
                  <a:srgbClr val="E2E2E5"/>
                </a:solidFill>
                <a:effectLst/>
                <a:latin typeface="Google Sans Text"/>
              </a:rPr>
              <a:t>Pre zber dát som si ako hlavný zdroj vybral portál reality.sk, ktorý pokrýva celé Slovensko. Na implementáciu scrapera som použil </a:t>
            </a:r>
            <a:r>
              <a:rPr lang="sk-SK" b="0" i="0" dirty="0" err="1">
                <a:solidFill>
                  <a:srgbClr val="E2E2E5"/>
                </a:solidFill>
                <a:effectLst/>
                <a:latin typeface="Google Sans Text"/>
              </a:rPr>
              <a:t>Python</a:t>
            </a:r>
            <a:r>
              <a:rPr lang="sk-SK" b="0" i="0" dirty="0">
                <a:solidFill>
                  <a:srgbClr val="E2E2E5"/>
                </a:solidFill>
                <a:effectLst/>
                <a:latin typeface="Google Sans Text"/>
              </a:rPr>
              <a:t> s knižnicami ako </a:t>
            </a:r>
            <a:r>
              <a:rPr lang="sk-SK" b="0" i="0" dirty="0" err="1">
                <a:solidFill>
                  <a:srgbClr val="E2E2E5"/>
                </a:solidFill>
                <a:effectLst/>
                <a:latin typeface="Google Sans Text"/>
              </a:rPr>
              <a:t>BeautifulSoup</a:t>
            </a:r>
            <a:r>
              <a:rPr lang="sk-SK" b="0" i="0" dirty="0">
                <a:solidFill>
                  <a:srgbClr val="E2E2E5"/>
                </a:solidFill>
                <a:effectLst/>
                <a:latin typeface="Google Sans Text"/>
              </a:rPr>
              <a:t> a </a:t>
            </a:r>
            <a:r>
              <a:rPr lang="sk-SK" b="0" i="0" dirty="0" err="1">
                <a:solidFill>
                  <a:srgbClr val="E2E2E5"/>
                </a:solidFill>
                <a:effectLst/>
                <a:latin typeface="Google Sans Text"/>
              </a:rPr>
              <a:t>Requests</a:t>
            </a:r>
            <a:r>
              <a:rPr lang="sk-SK" b="0" i="0" dirty="0">
                <a:solidFill>
                  <a:srgbClr val="E2E2E5"/>
                </a:solidFill>
                <a:effectLst/>
                <a:latin typeface="Google Sans Text"/>
              </a:rPr>
              <a:t>. Pre zabezpečenie anonymity a obchádzanie základných ochranných mechanizmov som integroval rotáciu IP adries cez sieť </a:t>
            </a:r>
            <a:r>
              <a:rPr lang="sk-SK" b="0" i="0" dirty="0" err="1">
                <a:solidFill>
                  <a:srgbClr val="E2E2E5"/>
                </a:solidFill>
                <a:effectLst/>
                <a:latin typeface="Google Sans Text"/>
              </a:rPr>
              <a:t>Tor</a:t>
            </a:r>
            <a:r>
              <a:rPr lang="sk-SK" b="0" i="0" dirty="0">
                <a:solidFill>
                  <a:srgbClr val="E2E2E5"/>
                </a:solidFill>
                <a:effectLst/>
                <a:latin typeface="Google Sans Text"/>
              </a:rPr>
              <a:t> a generovanie náhodných User-Agent hlavičiek.</a:t>
            </a:r>
            <a:br>
              <a:rPr lang="sk-SK" dirty="0"/>
            </a:br>
            <a:r>
              <a:rPr lang="sk-SK" b="0" i="0" dirty="0">
                <a:solidFill>
                  <a:srgbClr val="E2E2E5"/>
                </a:solidFill>
                <a:effectLst/>
                <a:latin typeface="Google Sans Text"/>
              </a:rPr>
              <a:t>Samotný </a:t>
            </a:r>
            <a:r>
              <a:rPr lang="sk-SK" b="0" i="0" dirty="0" err="1">
                <a:solidFill>
                  <a:srgbClr val="E2E2E5"/>
                </a:solidFill>
                <a:effectLst/>
                <a:latin typeface="Google Sans Text"/>
              </a:rPr>
              <a:t>scraping</a:t>
            </a:r>
            <a:r>
              <a:rPr lang="sk-SK" b="0" i="0" dirty="0">
                <a:solidFill>
                  <a:srgbClr val="E2E2E5"/>
                </a:solidFill>
                <a:effectLst/>
                <a:latin typeface="Google Sans Text"/>
              </a:rPr>
              <a:t> prebiehal v dvoch fázach: najprv som paralelne zbieral URL adresy jednotlivých ponúk, pričom som aplikoval filtrovanie na základe dátumu publikácie či aktualizácie. V druhej fáze som z týchto URL extrahoval detailné informácie, primárne z JSON-LD skriptov a relevantných HTML elementov.</a:t>
            </a:r>
            <a:br>
              <a:rPr lang="sk-SK" dirty="0"/>
            </a:br>
            <a:r>
              <a:rPr lang="sk-SK" b="0" i="0" dirty="0">
                <a:solidFill>
                  <a:srgbClr val="E2E2E5"/>
                </a:solidFill>
                <a:effectLst/>
                <a:latin typeface="Google Sans Text"/>
              </a:rPr>
              <a:t>Medzi kľúčové extrahované dáta patrili informácie o lokalite, cene, rozlohe, textový popis, dátumy, zoznam vybavenia a GPS súradnice. Tieto dáta boli následne ukladané buď do CSV súborov, rozdelených podľa regiónov, alebo do </a:t>
            </a:r>
            <a:r>
              <a:rPr lang="sk-SK" b="0" i="0" dirty="0" err="1">
                <a:solidFill>
                  <a:srgbClr val="E2E2E5"/>
                </a:solidFill>
                <a:effectLst/>
                <a:latin typeface="Google Sans Text"/>
              </a:rPr>
              <a:t>PostgreSQL</a:t>
            </a:r>
            <a:r>
              <a:rPr lang="sk-SK" b="0" i="0" dirty="0">
                <a:solidFill>
                  <a:srgbClr val="E2E2E5"/>
                </a:solidFill>
                <a:effectLst/>
                <a:latin typeface="Google Sans Text"/>
              </a:rPr>
              <a:t> databázy s využitím flexibilného JSONB formátu.</a:t>
            </a:r>
            <a:br>
              <a:rPr lang="sk-SK" dirty="0"/>
            </a:br>
            <a:r>
              <a:rPr lang="sk-SK" b="0" i="0" dirty="0">
                <a:solidFill>
                  <a:srgbClr val="E2E2E5"/>
                </a:solidFill>
                <a:effectLst/>
                <a:latin typeface="Google Sans Text"/>
              </a:rPr>
              <a:t>Výsledkom tejto fázy bolo približne 55 000 surových záznamov o nehnuteľnostiach.</a:t>
            </a:r>
            <a:endParaRPr lang="sk-SK" dirty="0"/>
          </a:p>
        </p:txBody>
      </p:sp>
      <p:sp>
        <p:nvSpPr>
          <p:cNvPr id="4" name="Slide Number Placeholder 3"/>
          <p:cNvSpPr>
            <a:spLocks noGrp="1"/>
          </p:cNvSpPr>
          <p:nvPr>
            <p:ph type="sldNum" sz="quarter" idx="5"/>
          </p:nvPr>
        </p:nvSpPr>
        <p:spPr/>
        <p:txBody>
          <a:bodyPr/>
          <a:lstStyle/>
          <a:p>
            <a:fld id="{A7261BB1-0BE5-4643-825D-3FA39CA39386}" type="slidenum">
              <a:rPr lang="sk-SK" smtClean="0"/>
              <a:t>3</a:t>
            </a:fld>
            <a:endParaRPr lang="sk-SK"/>
          </a:p>
        </p:txBody>
      </p:sp>
    </p:spTree>
    <p:extLst>
      <p:ext uri="{BB962C8B-B14F-4D97-AF65-F5344CB8AC3E}">
        <p14:creationId xmlns:p14="http://schemas.microsoft.com/office/powerpoint/2010/main" val="25444732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sk-SK"/>
          </a:p>
        </p:txBody>
      </p:sp>
      <p:sp>
        <p:nvSpPr>
          <p:cNvPr id="4" name="Slide Number Placeholder 3"/>
          <p:cNvSpPr>
            <a:spLocks noGrp="1"/>
          </p:cNvSpPr>
          <p:nvPr>
            <p:ph type="sldNum" sz="quarter" idx="5"/>
          </p:nvPr>
        </p:nvSpPr>
        <p:spPr/>
        <p:txBody>
          <a:bodyPr/>
          <a:lstStyle/>
          <a:p>
            <a:fld id="{A7261BB1-0BE5-4643-825D-3FA39CA39386}" type="slidenum">
              <a:rPr lang="sk-SK" smtClean="0"/>
              <a:t>4</a:t>
            </a:fld>
            <a:endParaRPr lang="sk-SK"/>
          </a:p>
        </p:txBody>
      </p:sp>
    </p:spTree>
    <p:extLst>
      <p:ext uri="{BB962C8B-B14F-4D97-AF65-F5344CB8AC3E}">
        <p14:creationId xmlns:p14="http://schemas.microsoft.com/office/powerpoint/2010/main" val="23202056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k-SK" b="0" i="0" dirty="0">
                <a:solidFill>
                  <a:srgbClr val="E2E2E5"/>
                </a:solidFill>
                <a:effectLst/>
                <a:latin typeface="Google Sans Text"/>
              </a:rPr>
              <a:t>Pred samotným modelovaním som vykonal </a:t>
            </a:r>
            <a:r>
              <a:rPr lang="sk-SK" b="0" i="0" dirty="0" err="1">
                <a:solidFill>
                  <a:srgbClr val="E2E2E5"/>
                </a:solidFill>
                <a:effectLst/>
                <a:latin typeface="Google Sans Text"/>
              </a:rPr>
              <a:t>exploratívnu</a:t>
            </a:r>
            <a:r>
              <a:rPr lang="sk-SK" b="0" i="0" dirty="0">
                <a:solidFill>
                  <a:srgbClr val="E2E2E5"/>
                </a:solidFill>
                <a:effectLst/>
                <a:latin typeface="Google Sans Text"/>
              </a:rPr>
              <a:t> analýzu dát, aby som lepšie porozumel ich charakteristikám.</a:t>
            </a:r>
            <a:br>
              <a:rPr lang="sk-SK" dirty="0"/>
            </a:br>
            <a:r>
              <a:rPr lang="sk-SK" b="0" i="0" dirty="0">
                <a:solidFill>
                  <a:srgbClr val="E2E2E5"/>
                </a:solidFill>
                <a:effectLst/>
                <a:latin typeface="Google Sans Text"/>
              </a:rPr>
              <a:t>Analýza ukázala, že distribúcie cien a rozlôh sú typicky vychýlené doprava a obsahujú </a:t>
            </a:r>
            <a:r>
              <a:rPr lang="sk-SK" b="0" i="0" dirty="0" err="1">
                <a:solidFill>
                  <a:srgbClr val="E2E2E5"/>
                </a:solidFill>
                <a:effectLst/>
                <a:latin typeface="Google Sans Text"/>
              </a:rPr>
              <a:t>outliery</a:t>
            </a:r>
            <a:r>
              <a:rPr lang="sk-SK" b="0" i="0" dirty="0">
                <a:solidFill>
                  <a:srgbClr val="E2E2E5"/>
                </a:solidFill>
                <a:effectLst/>
                <a:latin typeface="Google Sans Text"/>
              </a:rPr>
              <a:t>, čo je pre realitné dáta bežné. Veľmi zaujímavým zistením bola </a:t>
            </a:r>
            <a:r>
              <a:rPr lang="sk-SK" b="0" i="0" dirty="0" err="1">
                <a:solidFill>
                  <a:srgbClr val="E2E2E5"/>
                </a:solidFill>
                <a:effectLst/>
                <a:latin typeface="Google Sans Text"/>
              </a:rPr>
              <a:t>bimodálna</a:t>
            </a:r>
            <a:r>
              <a:rPr lang="sk-SK" b="0" i="0" dirty="0">
                <a:solidFill>
                  <a:srgbClr val="E2E2E5"/>
                </a:solidFill>
                <a:effectLst/>
                <a:latin typeface="Google Sans Text"/>
              </a:rPr>
              <a:t> distribúcia cien v kombinovanom segmente bytov, keď sme použili logaritmickú škálu. Táto </a:t>
            </a:r>
            <a:r>
              <a:rPr lang="sk-SK" b="0" i="0" dirty="0" err="1">
                <a:solidFill>
                  <a:srgbClr val="E2E2E5"/>
                </a:solidFill>
                <a:effectLst/>
                <a:latin typeface="Google Sans Text"/>
              </a:rPr>
              <a:t>bimodalita</a:t>
            </a:r>
            <a:r>
              <a:rPr lang="sk-SK" b="0" i="0" dirty="0">
                <a:solidFill>
                  <a:srgbClr val="E2E2E5"/>
                </a:solidFill>
                <a:effectLst/>
                <a:latin typeface="Google Sans Text"/>
              </a:rPr>
              <a:t> jasne vizuálne oddelila dve </a:t>
            </a:r>
            <a:r>
              <a:rPr lang="sk-SK" b="0" i="0" dirty="0" err="1">
                <a:solidFill>
                  <a:srgbClr val="E2E2E5"/>
                </a:solidFill>
                <a:effectLst/>
                <a:latin typeface="Google Sans Text"/>
              </a:rPr>
              <a:t>sub</a:t>
            </a:r>
            <a:r>
              <a:rPr lang="sk-SK" b="0" i="0" dirty="0">
                <a:solidFill>
                  <a:srgbClr val="E2E2E5"/>
                </a:solidFill>
                <a:effectLst/>
                <a:latin typeface="Google Sans Text"/>
              </a:rPr>
              <a:t>-populácie – byty na prenájom a byty na predaj.</a:t>
            </a:r>
            <a:br>
              <a:rPr lang="sk-SK" dirty="0"/>
            </a:br>
            <a:r>
              <a:rPr lang="sk-SK" b="0" i="0" dirty="0">
                <a:solidFill>
                  <a:srgbClr val="E2E2E5"/>
                </a:solidFill>
                <a:effectLst/>
                <a:latin typeface="Google Sans Text"/>
              </a:rPr>
              <a:t>Potvrdil sa tiež očakávaný pozitívny vzťah medzi cenou a rozlohou – väčšie byty sú spravidla drahšie. Výrazné boli aj regionálne disparity, kde Bratislavský kraj dominoval ako v počte ponúk, tak aj v priemernej cene, najmä pri bytoch na predaj.</a:t>
            </a:r>
            <a:br>
              <a:rPr lang="sk-SK" dirty="0"/>
            </a:br>
            <a:r>
              <a:rPr lang="sk-SK" b="0" i="0" dirty="0">
                <a:solidFill>
                  <a:srgbClr val="E2E2E5"/>
                </a:solidFill>
                <a:effectLst/>
                <a:latin typeface="Google Sans Text"/>
              </a:rPr>
              <a:t>Tieto zistenia mali priame implikácie pre modelovanie, napríklad zdôraznili dôležitosť príznaku </a:t>
            </a:r>
            <a:r>
              <a:rPr lang="sk-SK" b="0" i="0" dirty="0" err="1">
                <a:solidFill>
                  <a:srgbClr val="E2E2E5"/>
                </a:solidFill>
                <a:effectLst/>
                <a:latin typeface="DM Mono"/>
              </a:rPr>
              <a:t>is_for_sale</a:t>
            </a:r>
            <a:r>
              <a:rPr lang="sk-SK" b="0" i="0" dirty="0">
                <a:solidFill>
                  <a:srgbClr val="E2E2E5"/>
                </a:solidFill>
                <a:effectLst/>
                <a:latin typeface="Google Sans Text"/>
              </a:rPr>
              <a:t> pre kombinovaný model a naznačili potenciálny prínos logaritmickej transformácie cien pre stabilizáciu </a:t>
            </a:r>
            <a:r>
              <a:rPr lang="sk-SK" b="0" i="0" dirty="0" err="1">
                <a:solidFill>
                  <a:srgbClr val="E2E2E5"/>
                </a:solidFill>
                <a:effectLst/>
                <a:latin typeface="Google Sans Text"/>
              </a:rPr>
              <a:t>variancie</a:t>
            </a:r>
            <a:r>
              <a:rPr lang="sk-SK" b="0" i="0" dirty="0">
                <a:solidFill>
                  <a:srgbClr val="E2E2E5"/>
                </a:solidFill>
                <a:effectLst/>
                <a:latin typeface="Google Sans Text"/>
              </a:rPr>
              <a:t>.</a:t>
            </a:r>
            <a:endParaRPr lang="sk-SK" dirty="0"/>
          </a:p>
        </p:txBody>
      </p:sp>
      <p:sp>
        <p:nvSpPr>
          <p:cNvPr id="4" name="Slide Number Placeholder 3"/>
          <p:cNvSpPr>
            <a:spLocks noGrp="1"/>
          </p:cNvSpPr>
          <p:nvPr>
            <p:ph type="sldNum" sz="quarter" idx="5"/>
          </p:nvPr>
        </p:nvSpPr>
        <p:spPr/>
        <p:txBody>
          <a:bodyPr/>
          <a:lstStyle/>
          <a:p>
            <a:fld id="{A7261BB1-0BE5-4643-825D-3FA39CA39386}" type="slidenum">
              <a:rPr lang="sk-SK" smtClean="0"/>
              <a:t>5</a:t>
            </a:fld>
            <a:endParaRPr lang="sk-SK"/>
          </a:p>
        </p:txBody>
      </p:sp>
    </p:spTree>
    <p:extLst>
      <p:ext uri="{BB962C8B-B14F-4D97-AF65-F5344CB8AC3E}">
        <p14:creationId xmlns:p14="http://schemas.microsoft.com/office/powerpoint/2010/main" val="29493572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k-SK" b="0" i="0" dirty="0">
                <a:solidFill>
                  <a:srgbClr val="E2E2E5"/>
                </a:solidFill>
                <a:effectLst/>
                <a:latin typeface="Google Sans Text"/>
              </a:rPr>
              <a:t>Finálna príprava dát pre neurónovú sieť prebiehala vo funkcii </a:t>
            </a:r>
            <a:r>
              <a:rPr lang="sk-SK" b="0" i="0" dirty="0" err="1">
                <a:solidFill>
                  <a:srgbClr val="E2E2E5"/>
                </a:solidFill>
                <a:effectLst/>
                <a:latin typeface="DM Mono"/>
              </a:rPr>
              <a:t>normalize_data_for_nn</a:t>
            </a:r>
            <a:r>
              <a:rPr lang="sk-SK" b="0" i="0" dirty="0">
                <a:solidFill>
                  <a:srgbClr val="E2E2E5"/>
                </a:solidFill>
                <a:effectLst/>
                <a:latin typeface="Google Sans Text"/>
              </a:rPr>
              <a:t>. Hlavným cieľom bolo transformovať dáta do formátu, ktorý je pre neurónové siete optimálny.</a:t>
            </a:r>
            <a:br>
              <a:rPr lang="sk-SK" dirty="0"/>
            </a:br>
            <a:r>
              <a:rPr lang="sk-SK" b="0" i="0" dirty="0">
                <a:solidFill>
                  <a:srgbClr val="E2E2E5"/>
                </a:solidFill>
                <a:effectLst/>
                <a:latin typeface="Google Sans Text"/>
              </a:rPr>
              <a:t>Pre kategorické príznaky, ako napríklad región alebo ulica, som použil techniku </a:t>
            </a:r>
            <a:r>
              <a:rPr lang="sk-SK" b="0" i="0" dirty="0" err="1">
                <a:solidFill>
                  <a:srgbClr val="E2E2E5"/>
                </a:solidFill>
                <a:effectLst/>
                <a:latin typeface="Google Sans Text"/>
              </a:rPr>
              <a:t>One</a:t>
            </a:r>
            <a:r>
              <a:rPr lang="sk-SK" b="0" i="0" dirty="0">
                <a:solidFill>
                  <a:srgbClr val="E2E2E5"/>
                </a:solidFill>
                <a:effectLst/>
                <a:latin typeface="Google Sans Text"/>
              </a:rPr>
              <a:t>-Hot </a:t>
            </a:r>
            <a:r>
              <a:rPr lang="sk-SK" b="0" i="0" dirty="0" err="1">
                <a:solidFill>
                  <a:srgbClr val="E2E2E5"/>
                </a:solidFill>
                <a:effectLst/>
                <a:latin typeface="Google Sans Text"/>
              </a:rPr>
              <a:t>Encoding</a:t>
            </a:r>
            <a:r>
              <a:rPr lang="sk-SK" b="0" i="0" dirty="0">
                <a:solidFill>
                  <a:srgbClr val="E2E2E5"/>
                </a:solidFill>
                <a:effectLst/>
                <a:latin typeface="Google Sans Text"/>
              </a:rPr>
              <a:t>. Aby som predišiel príliš veľkému počtu nových príznakov pri stĺpcoch s vysokou </a:t>
            </a:r>
            <a:r>
              <a:rPr lang="sk-SK" b="0" i="0" dirty="0" err="1">
                <a:solidFill>
                  <a:srgbClr val="E2E2E5"/>
                </a:solidFill>
                <a:effectLst/>
                <a:latin typeface="Google Sans Text"/>
              </a:rPr>
              <a:t>kardinalitou</a:t>
            </a:r>
            <a:r>
              <a:rPr lang="sk-SK" b="0" i="0" dirty="0">
                <a:solidFill>
                  <a:srgbClr val="E2E2E5"/>
                </a:solidFill>
                <a:effectLst/>
                <a:latin typeface="Google Sans Text"/>
              </a:rPr>
              <a:t>, ako je ulica, zachoval som len 100 najčastejších hodnôt a ostatné som zlúčil do kategórie 'Ostatné'.</a:t>
            </a:r>
            <a:br>
              <a:rPr lang="sk-SK" dirty="0"/>
            </a:br>
            <a:r>
              <a:rPr lang="sk-SK" b="0" i="0" dirty="0">
                <a:solidFill>
                  <a:srgbClr val="E2E2E5"/>
                </a:solidFill>
                <a:effectLst/>
                <a:latin typeface="Google Sans Text"/>
              </a:rPr>
              <a:t>Numerické príznaky boli štandardizované pomocou Z-</a:t>
            </a:r>
            <a:r>
              <a:rPr lang="sk-SK" b="0" i="0" dirty="0" err="1">
                <a:solidFill>
                  <a:srgbClr val="E2E2E5"/>
                </a:solidFill>
                <a:effectLst/>
                <a:latin typeface="Google Sans Text"/>
              </a:rPr>
              <a:t>score</a:t>
            </a:r>
            <a:r>
              <a:rPr lang="sk-SK" b="0" i="0" dirty="0">
                <a:solidFill>
                  <a:srgbClr val="E2E2E5"/>
                </a:solidFill>
                <a:effectLst/>
                <a:latin typeface="Google Sans Text"/>
              </a:rPr>
              <a:t> normalizácie, čím sa zabezpečilo, že mali priemer nula a štandardnú odchýlku jedna. Všetky parametre týchto transformácií boli uložené, aby bolo možné konzistentne spracovať aj nové dáta v budúcnosti.</a:t>
            </a:r>
            <a:br>
              <a:rPr lang="sk-SK" dirty="0"/>
            </a:br>
            <a:r>
              <a:rPr lang="sk-SK" b="0" i="0" dirty="0">
                <a:solidFill>
                  <a:srgbClr val="E2E2E5"/>
                </a:solidFill>
                <a:effectLst/>
                <a:latin typeface="Google Sans Text"/>
              </a:rPr>
              <a:t>Nakoniec boli dáta rozdelené na tréningovú a testovaciu sadu v pomere 80:20 a konvertované na </a:t>
            </a:r>
            <a:r>
              <a:rPr lang="sk-SK" b="0" i="0" dirty="0" err="1">
                <a:solidFill>
                  <a:srgbClr val="E2E2E5"/>
                </a:solidFill>
                <a:effectLst/>
                <a:latin typeface="Google Sans Text"/>
              </a:rPr>
              <a:t>NumPy</a:t>
            </a:r>
            <a:r>
              <a:rPr lang="sk-SK" b="0" i="0" dirty="0">
                <a:solidFill>
                  <a:srgbClr val="E2E2E5"/>
                </a:solidFill>
                <a:effectLst/>
                <a:latin typeface="Google Sans Text"/>
              </a:rPr>
              <a:t> polia dátového typu float32, ktorý je štandardne očakávaný knižnicou </a:t>
            </a:r>
            <a:r>
              <a:rPr lang="sk-SK" b="0" i="0" dirty="0" err="1">
                <a:solidFill>
                  <a:srgbClr val="E2E2E5"/>
                </a:solidFill>
                <a:effectLst/>
                <a:latin typeface="Google Sans Text"/>
              </a:rPr>
              <a:t>TensorFlow</a:t>
            </a:r>
            <a:endParaRPr lang="sk-SK" dirty="0"/>
          </a:p>
        </p:txBody>
      </p:sp>
      <p:sp>
        <p:nvSpPr>
          <p:cNvPr id="4" name="Slide Number Placeholder 3"/>
          <p:cNvSpPr>
            <a:spLocks noGrp="1"/>
          </p:cNvSpPr>
          <p:nvPr>
            <p:ph type="sldNum" sz="quarter" idx="5"/>
          </p:nvPr>
        </p:nvSpPr>
        <p:spPr/>
        <p:txBody>
          <a:bodyPr/>
          <a:lstStyle/>
          <a:p>
            <a:fld id="{A7261BB1-0BE5-4643-825D-3FA39CA39386}" type="slidenum">
              <a:rPr lang="sk-SK" smtClean="0"/>
              <a:t>6</a:t>
            </a:fld>
            <a:endParaRPr lang="sk-SK"/>
          </a:p>
        </p:txBody>
      </p:sp>
    </p:spTree>
    <p:extLst>
      <p:ext uri="{BB962C8B-B14F-4D97-AF65-F5344CB8AC3E}">
        <p14:creationId xmlns:p14="http://schemas.microsoft.com/office/powerpoint/2010/main" val="8523874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sk-SK" b="0" i="0" dirty="0">
                <a:solidFill>
                  <a:srgbClr val="E2E2E5"/>
                </a:solidFill>
                <a:effectLst/>
                <a:latin typeface="Google Sans Text"/>
              </a:rPr>
              <a:t>Pre samotnú predikciu cien som sa rozhodol implementovať hlbokú neurónovú sieť typu viacvrstvový </a:t>
            </a:r>
            <a:r>
              <a:rPr lang="sk-SK" b="0" i="0" dirty="0" err="1">
                <a:solidFill>
                  <a:srgbClr val="E2E2E5"/>
                </a:solidFill>
                <a:effectLst/>
                <a:latin typeface="Google Sans Text"/>
              </a:rPr>
              <a:t>perceptrón</a:t>
            </a:r>
            <a:r>
              <a:rPr lang="sk-SK" b="0" i="0" dirty="0">
                <a:solidFill>
                  <a:srgbClr val="E2E2E5"/>
                </a:solidFill>
                <a:effectLst/>
                <a:latin typeface="Google Sans Text"/>
              </a:rPr>
              <a:t>, často označovaný aj ako MLP alebo hlboká </a:t>
            </a:r>
            <a:r>
              <a:rPr lang="sk-SK" b="0" i="0" dirty="0" err="1">
                <a:solidFill>
                  <a:srgbClr val="E2E2E5"/>
                </a:solidFill>
                <a:effectLst/>
                <a:latin typeface="Google Sans Text"/>
              </a:rPr>
              <a:t>dopredná</a:t>
            </a:r>
            <a:r>
              <a:rPr lang="sk-SK" b="0" i="0" dirty="0">
                <a:solidFill>
                  <a:srgbClr val="E2E2E5"/>
                </a:solidFill>
                <a:effectLst/>
                <a:latin typeface="Google Sans Text"/>
              </a:rPr>
              <a:t> sieť. Na jej tvorbu som využil knižnicu </a:t>
            </a:r>
            <a:r>
              <a:rPr lang="sk-SK" b="0" i="0" dirty="0" err="1">
                <a:solidFill>
                  <a:srgbClr val="E2E2E5"/>
                </a:solidFill>
                <a:effectLst/>
                <a:latin typeface="Google Sans Text"/>
              </a:rPr>
              <a:t>TensorFlow</a:t>
            </a:r>
            <a:r>
              <a:rPr lang="sk-SK" b="0" i="0" dirty="0">
                <a:solidFill>
                  <a:srgbClr val="E2E2E5"/>
                </a:solidFill>
                <a:effectLst/>
                <a:latin typeface="Google Sans Text"/>
              </a:rPr>
              <a:t> s </a:t>
            </a:r>
            <a:r>
              <a:rPr lang="sk-SK" b="0" i="0" dirty="0" err="1">
                <a:solidFill>
                  <a:srgbClr val="E2E2E5"/>
                </a:solidFill>
                <a:effectLst/>
                <a:latin typeface="Google Sans Text"/>
              </a:rPr>
              <a:t>Keras</a:t>
            </a:r>
            <a:r>
              <a:rPr lang="sk-SK" b="0" i="0" dirty="0">
                <a:solidFill>
                  <a:srgbClr val="E2E2E5"/>
                </a:solidFill>
                <a:effectLst/>
                <a:latin typeface="Google Sans Text"/>
              </a:rPr>
              <a:t> API.</a:t>
            </a:r>
          </a:p>
          <a:p>
            <a:pPr algn="l"/>
            <a:r>
              <a:rPr lang="sk-SK" b="0" i="0" dirty="0">
                <a:solidFill>
                  <a:srgbClr val="E2E2E5"/>
                </a:solidFill>
                <a:effectLst/>
                <a:latin typeface="Google Sans Text"/>
              </a:rPr>
              <a:t>Poďme sa pozrieť na jej architektúru:</a:t>
            </a:r>
          </a:p>
          <a:p>
            <a:pPr algn="l">
              <a:buFont typeface="Arial" panose="020B0604020202020204" pitchFamily="34" charset="0"/>
              <a:buChar char="•"/>
            </a:pPr>
            <a:r>
              <a:rPr lang="sk-SK" b="0" i="0" dirty="0">
                <a:solidFill>
                  <a:srgbClr val="E2E2E5"/>
                </a:solidFill>
                <a:effectLst/>
                <a:latin typeface="Google Sans Text"/>
              </a:rPr>
              <a:t>Začíname </a:t>
            </a:r>
            <a:r>
              <a:rPr lang="sk-SK" b="1" i="0" dirty="0">
                <a:solidFill>
                  <a:srgbClr val="E2E2E5"/>
                </a:solidFill>
                <a:effectLst/>
                <a:latin typeface="Google Sans Text"/>
              </a:rPr>
              <a:t>vstupnou vrstvou</a:t>
            </a:r>
            <a:r>
              <a:rPr lang="sk-SK" b="0" i="0" dirty="0">
                <a:solidFill>
                  <a:srgbClr val="E2E2E5"/>
                </a:solidFill>
                <a:effectLst/>
                <a:latin typeface="Google Sans Text"/>
              </a:rPr>
              <a:t>. Počet neurónov v tejto vrstve presne zodpovedá počtu príznakov, ktoré sme pripravili v predchádzajúcich krokoch – teda po </a:t>
            </a:r>
            <a:r>
              <a:rPr lang="sk-SK" b="0" i="0" dirty="0" err="1">
                <a:solidFill>
                  <a:srgbClr val="E2E2E5"/>
                </a:solidFill>
                <a:effectLst/>
                <a:latin typeface="Google Sans Text"/>
              </a:rPr>
              <a:t>one</a:t>
            </a:r>
            <a:r>
              <a:rPr lang="sk-SK" b="0" i="0" dirty="0">
                <a:solidFill>
                  <a:srgbClr val="E2E2E5"/>
                </a:solidFill>
                <a:effectLst/>
                <a:latin typeface="Google Sans Text"/>
              </a:rPr>
              <a:t>-hot </a:t>
            </a:r>
            <a:r>
              <a:rPr lang="sk-SK" b="0" i="0" dirty="0" err="1">
                <a:solidFill>
                  <a:srgbClr val="E2E2E5"/>
                </a:solidFill>
                <a:effectLst/>
                <a:latin typeface="Google Sans Text"/>
              </a:rPr>
              <a:t>encodingu</a:t>
            </a:r>
            <a:r>
              <a:rPr lang="sk-SK" b="0" i="0" dirty="0">
                <a:solidFill>
                  <a:srgbClr val="E2E2E5"/>
                </a:solidFill>
                <a:effectLst/>
                <a:latin typeface="Google Sans Text"/>
              </a:rPr>
              <a:t> a normalizácii.</a:t>
            </a:r>
          </a:p>
          <a:p>
            <a:pPr algn="l">
              <a:buFont typeface="Arial" panose="020B0604020202020204" pitchFamily="34" charset="0"/>
              <a:buChar char="•"/>
            </a:pPr>
            <a:r>
              <a:rPr lang="sk-SK" b="0" i="0" dirty="0">
                <a:solidFill>
                  <a:srgbClr val="E2E2E5"/>
                </a:solidFill>
                <a:effectLst/>
                <a:latin typeface="Google Sans Text"/>
              </a:rPr>
              <a:t>Nasleduje séria </a:t>
            </a:r>
            <a:r>
              <a:rPr lang="sk-SK" b="1" i="0" dirty="0">
                <a:solidFill>
                  <a:srgbClr val="E2E2E5"/>
                </a:solidFill>
                <a:effectLst/>
                <a:latin typeface="Google Sans Text"/>
              </a:rPr>
              <a:t>skrytých vrstiev</a:t>
            </a:r>
            <a:r>
              <a:rPr lang="sk-SK" b="0" i="0" dirty="0">
                <a:solidFill>
                  <a:srgbClr val="E2E2E5"/>
                </a:solidFill>
                <a:effectLst/>
                <a:latin typeface="Google Sans Text"/>
              </a:rPr>
              <a:t>. V mojom prípade som experimentoval s architektúrou napríklad so štyrmi skrytými vrstvami s klesajúcim počtom neurónov, povedzme 128, potom 64, 32 a nakoniec 16 neurónov. Tieto vrstvy sú typu </a:t>
            </a:r>
            <a:r>
              <a:rPr lang="sk-SK" b="0" i="0" dirty="0" err="1">
                <a:solidFill>
                  <a:srgbClr val="E2E2E5"/>
                </a:solidFill>
                <a:effectLst/>
                <a:latin typeface="DM Mono"/>
              </a:rPr>
              <a:t>Dense</a:t>
            </a:r>
            <a:r>
              <a:rPr lang="sk-SK" b="0" i="0" dirty="0">
                <a:solidFill>
                  <a:srgbClr val="E2E2E5"/>
                </a:solidFill>
                <a:effectLst/>
                <a:latin typeface="Google Sans Text"/>
              </a:rPr>
              <a:t>, čo znamená, že každý neurón v jednej vrstve je plne prepojený so všetkými neurónmi v predchádzajúcej vrstve. Práve v týchto vrstvách sa model učí komplexné, nelineárne vzory a vzťahy medzi vstupnými príznakmi a cieľovou cenou. Ako aktivačnú funkciu som pre tieto skryté vrstvy použil </a:t>
            </a:r>
            <a:r>
              <a:rPr lang="sk-SK" b="0" i="0" dirty="0" err="1">
                <a:solidFill>
                  <a:srgbClr val="E2E2E5"/>
                </a:solidFill>
                <a:effectLst/>
                <a:latin typeface="DM Mono"/>
              </a:rPr>
              <a:t>ReLU</a:t>
            </a:r>
            <a:r>
              <a:rPr lang="sk-SK" b="0" i="0" dirty="0">
                <a:solidFill>
                  <a:srgbClr val="E2E2E5"/>
                </a:solidFill>
                <a:effectLst/>
                <a:latin typeface="Google Sans Text"/>
              </a:rPr>
              <a:t> (</a:t>
            </a:r>
            <a:r>
              <a:rPr lang="sk-SK" b="0" i="0" dirty="0" err="1">
                <a:solidFill>
                  <a:srgbClr val="E2E2E5"/>
                </a:solidFill>
                <a:effectLst/>
                <a:latin typeface="Google Sans Text"/>
              </a:rPr>
              <a:t>Rectified</a:t>
            </a:r>
            <a:r>
              <a:rPr lang="sk-SK" b="0" i="0" dirty="0">
                <a:solidFill>
                  <a:srgbClr val="E2E2E5"/>
                </a:solidFill>
                <a:effectLst/>
                <a:latin typeface="Google Sans Text"/>
              </a:rPr>
              <a:t> </a:t>
            </a:r>
            <a:r>
              <a:rPr lang="sk-SK" b="0" i="0" dirty="0" err="1">
                <a:solidFill>
                  <a:srgbClr val="E2E2E5"/>
                </a:solidFill>
                <a:effectLst/>
                <a:latin typeface="Google Sans Text"/>
              </a:rPr>
              <a:t>Linear</a:t>
            </a:r>
            <a:r>
              <a:rPr lang="sk-SK" b="0" i="0" dirty="0">
                <a:solidFill>
                  <a:srgbClr val="E2E2E5"/>
                </a:solidFill>
                <a:effectLst/>
                <a:latin typeface="Google Sans Text"/>
              </a:rPr>
              <a:t> </a:t>
            </a:r>
            <a:r>
              <a:rPr lang="sk-SK" b="0" i="0" dirty="0" err="1">
                <a:solidFill>
                  <a:srgbClr val="E2E2E5"/>
                </a:solidFill>
                <a:effectLst/>
                <a:latin typeface="Google Sans Text"/>
              </a:rPr>
              <a:t>Unit</a:t>
            </a:r>
            <a:r>
              <a:rPr lang="sk-SK" b="0" i="0" dirty="0">
                <a:solidFill>
                  <a:srgbClr val="E2E2E5"/>
                </a:solidFill>
                <a:effectLst/>
                <a:latin typeface="Google Sans Text"/>
              </a:rPr>
              <a:t>). </a:t>
            </a:r>
            <a:r>
              <a:rPr lang="sk-SK" b="0" i="0" dirty="0" err="1">
                <a:solidFill>
                  <a:srgbClr val="E2E2E5"/>
                </a:solidFill>
                <a:effectLst/>
                <a:latin typeface="Google Sans Text"/>
              </a:rPr>
              <a:t>ReLU</a:t>
            </a:r>
            <a:r>
              <a:rPr lang="sk-SK" b="0" i="0" dirty="0">
                <a:solidFill>
                  <a:srgbClr val="E2E2E5"/>
                </a:solidFill>
                <a:effectLst/>
                <a:latin typeface="Google Sans Text"/>
              </a:rPr>
              <a:t> je populárna voľba, pretože je výpočtovo efektívna a pomáha riešiť problém miznúcich gradientov tým, že jednoducho vráti vstup, ak je pozitívny, a nulu inak. Práve táto </a:t>
            </a:r>
            <a:r>
              <a:rPr lang="sk-SK" b="0" i="0" dirty="0" err="1">
                <a:solidFill>
                  <a:srgbClr val="E2E2E5"/>
                </a:solidFill>
                <a:effectLst/>
                <a:latin typeface="Google Sans Text"/>
              </a:rPr>
              <a:t>nelinearita</a:t>
            </a:r>
            <a:r>
              <a:rPr lang="sk-SK" b="0" i="0" dirty="0">
                <a:solidFill>
                  <a:srgbClr val="E2E2E5"/>
                </a:solidFill>
                <a:effectLst/>
                <a:latin typeface="Google Sans Text"/>
              </a:rPr>
              <a:t> umožňuje sieti modelovať zložité závislosti.</a:t>
            </a:r>
          </a:p>
          <a:p>
            <a:pPr algn="l">
              <a:buFont typeface="Arial" panose="020B0604020202020204" pitchFamily="34" charset="0"/>
              <a:buChar char="•"/>
            </a:pPr>
            <a:r>
              <a:rPr lang="sk-SK" b="0" i="0" dirty="0">
                <a:solidFill>
                  <a:srgbClr val="E2E2E5"/>
                </a:solidFill>
                <a:effectLst/>
                <a:latin typeface="Google Sans Text"/>
              </a:rPr>
              <a:t>Nakoniec máme </a:t>
            </a:r>
            <a:r>
              <a:rPr lang="sk-SK" b="1" i="0" dirty="0">
                <a:solidFill>
                  <a:srgbClr val="E2E2E5"/>
                </a:solidFill>
                <a:effectLst/>
                <a:latin typeface="Google Sans Text"/>
              </a:rPr>
              <a:t>výstupnú vrstvu</a:t>
            </a:r>
            <a:r>
              <a:rPr lang="sk-SK" b="0" i="0" dirty="0">
                <a:solidFill>
                  <a:srgbClr val="E2E2E5"/>
                </a:solidFill>
                <a:effectLst/>
                <a:latin typeface="Google Sans Text"/>
              </a:rPr>
              <a:t>, ktorá pre našu regresnú úlohu obsahuje len jeden neurón. Tento neurón predikuje výslednú cenu nehnuteľnosti. Používa lineárnu aktivačnú funkciu, čo znamená, že výstup nie je nijako obmedzený a môže nadobúdať akúkoľvek reálnu hodnotu, čo je pre predikciu ceny vhodné.</a:t>
            </a:r>
          </a:p>
          <a:p>
            <a:pPr algn="l"/>
            <a:r>
              <a:rPr lang="sk-SK" b="0" i="0" dirty="0">
                <a:solidFill>
                  <a:srgbClr val="E2E2E5"/>
                </a:solidFill>
                <a:effectLst/>
                <a:latin typeface="Google Sans Text"/>
              </a:rPr>
              <a:t>Na zlepšenie tréningového procesu a robustnosti modelu som implementoval niekoľko kľúčových techník:</a:t>
            </a:r>
          </a:p>
          <a:p>
            <a:pPr algn="l">
              <a:buFont typeface="Arial" panose="020B0604020202020204" pitchFamily="34" charset="0"/>
              <a:buChar char="•"/>
            </a:pPr>
            <a:r>
              <a:rPr lang="sk-SK" b="1" i="0" dirty="0" err="1">
                <a:solidFill>
                  <a:srgbClr val="E2E2E5"/>
                </a:solidFill>
                <a:effectLst/>
                <a:latin typeface="Google Sans Text"/>
              </a:rPr>
              <a:t>Batch</a:t>
            </a:r>
            <a:r>
              <a:rPr lang="sk-SK" b="1" i="0" dirty="0">
                <a:solidFill>
                  <a:srgbClr val="E2E2E5"/>
                </a:solidFill>
                <a:effectLst/>
                <a:latin typeface="Google Sans Text"/>
              </a:rPr>
              <a:t> </a:t>
            </a:r>
            <a:r>
              <a:rPr lang="sk-SK" b="1" i="0" dirty="0" err="1">
                <a:solidFill>
                  <a:srgbClr val="E2E2E5"/>
                </a:solidFill>
                <a:effectLst/>
                <a:latin typeface="Google Sans Text"/>
              </a:rPr>
              <a:t>Normalization</a:t>
            </a:r>
            <a:r>
              <a:rPr lang="sk-SK" b="1" i="0" dirty="0">
                <a:solidFill>
                  <a:srgbClr val="E2E2E5"/>
                </a:solidFill>
                <a:effectLst/>
                <a:latin typeface="Google Sans Text"/>
              </a:rPr>
              <a:t>:</a:t>
            </a:r>
            <a:r>
              <a:rPr lang="sk-SK" b="0" i="0" dirty="0">
                <a:solidFill>
                  <a:srgbClr val="E2E2E5"/>
                </a:solidFill>
                <a:effectLst/>
                <a:latin typeface="Google Sans Text"/>
              </a:rPr>
              <a:t> Táto vrstva sa pridáva za každú </a:t>
            </a:r>
            <a:r>
              <a:rPr lang="sk-SK" b="0" i="0" dirty="0" err="1">
                <a:solidFill>
                  <a:srgbClr val="E2E2E5"/>
                </a:solidFill>
                <a:effectLst/>
                <a:latin typeface="DM Mono"/>
              </a:rPr>
              <a:t>Dense</a:t>
            </a:r>
            <a:r>
              <a:rPr lang="sk-SK" b="0" i="0" dirty="0">
                <a:solidFill>
                  <a:srgbClr val="E2E2E5"/>
                </a:solidFill>
                <a:effectLst/>
                <a:latin typeface="Google Sans Text"/>
              </a:rPr>
              <a:t> vrstvu (pred aktiváciou) a normalizuje výstupy pre každú dávku dát. Pomáha to stabilizovať a výrazne urýchliť proces učenia a tiež pôsobí ako forma </a:t>
            </a:r>
            <a:r>
              <a:rPr lang="sk-SK" b="0" i="0" dirty="0" err="1">
                <a:solidFill>
                  <a:srgbClr val="E2E2E5"/>
                </a:solidFill>
                <a:effectLst/>
                <a:latin typeface="Google Sans Text"/>
              </a:rPr>
              <a:t>regularizácie</a:t>
            </a:r>
            <a:r>
              <a:rPr lang="sk-SK" b="0" i="0" dirty="0">
                <a:solidFill>
                  <a:srgbClr val="E2E2E5"/>
                </a:solidFill>
                <a:effectLst/>
                <a:latin typeface="Google Sans Text"/>
              </a:rPr>
              <a:t>.</a:t>
            </a:r>
          </a:p>
          <a:p>
            <a:pPr algn="l">
              <a:buFont typeface="Arial" panose="020B0604020202020204" pitchFamily="34" charset="0"/>
              <a:buChar char="•"/>
            </a:pPr>
            <a:r>
              <a:rPr lang="sk-SK" b="1" i="0" dirty="0" err="1">
                <a:solidFill>
                  <a:srgbClr val="E2E2E5"/>
                </a:solidFill>
                <a:effectLst/>
                <a:latin typeface="Google Sans Text"/>
              </a:rPr>
              <a:t>Dropout</a:t>
            </a:r>
            <a:r>
              <a:rPr lang="sk-SK" b="1" i="0" dirty="0">
                <a:solidFill>
                  <a:srgbClr val="E2E2E5"/>
                </a:solidFill>
                <a:effectLst/>
                <a:latin typeface="Google Sans Text"/>
              </a:rPr>
              <a:t>:</a:t>
            </a:r>
            <a:r>
              <a:rPr lang="sk-SK" b="0" i="0" dirty="0">
                <a:solidFill>
                  <a:srgbClr val="E2E2E5"/>
                </a:solidFill>
                <a:effectLst/>
                <a:latin typeface="Google Sans Text"/>
              </a:rPr>
              <a:t> Ide o </a:t>
            </a:r>
            <a:r>
              <a:rPr lang="sk-SK" b="0" i="0" dirty="0" err="1">
                <a:solidFill>
                  <a:srgbClr val="E2E2E5"/>
                </a:solidFill>
                <a:effectLst/>
                <a:latin typeface="Google Sans Text"/>
              </a:rPr>
              <a:t>regularizačnú</a:t>
            </a:r>
            <a:r>
              <a:rPr lang="sk-SK" b="0" i="0" dirty="0">
                <a:solidFill>
                  <a:srgbClr val="E2E2E5"/>
                </a:solidFill>
                <a:effectLst/>
                <a:latin typeface="Google Sans Text"/>
              </a:rPr>
              <a:t> techniku, kde počas tréningu náhodne "vypíname" určitý podiel neurónov v danej vrstve. Tým sa model núti učiť redundantnejšie reprezentácie a znižuje sa riziko pretrénovania, teda prílišného prispôsobenia sa tréningovým dátam.</a:t>
            </a:r>
          </a:p>
          <a:p>
            <a:pPr algn="l">
              <a:buFont typeface="Arial" panose="020B0604020202020204" pitchFamily="34" charset="0"/>
              <a:buChar char="•"/>
            </a:pPr>
            <a:r>
              <a:rPr lang="sk-SK" b="0" i="0" dirty="0">
                <a:solidFill>
                  <a:srgbClr val="E2E2E5"/>
                </a:solidFill>
                <a:effectLst/>
                <a:latin typeface="Google Sans Text"/>
              </a:rPr>
              <a:t>A </a:t>
            </a:r>
            <a:r>
              <a:rPr lang="sk-SK" b="1" i="0" dirty="0">
                <a:solidFill>
                  <a:srgbClr val="E2E2E5"/>
                </a:solidFill>
                <a:effectLst/>
                <a:latin typeface="Google Sans Text"/>
              </a:rPr>
              <a:t>L2 </a:t>
            </a:r>
            <a:r>
              <a:rPr lang="sk-SK" b="1" i="0" dirty="0" err="1">
                <a:solidFill>
                  <a:srgbClr val="E2E2E5"/>
                </a:solidFill>
                <a:effectLst/>
                <a:latin typeface="Google Sans Text"/>
              </a:rPr>
              <a:t>Regularizácia</a:t>
            </a:r>
            <a:r>
              <a:rPr lang="sk-SK" b="1" i="0" dirty="0">
                <a:solidFill>
                  <a:srgbClr val="E2E2E5"/>
                </a:solidFill>
                <a:effectLst/>
                <a:latin typeface="Google Sans Text"/>
              </a:rPr>
              <a:t>:</a:t>
            </a:r>
            <a:r>
              <a:rPr lang="sk-SK" b="0" i="0" dirty="0">
                <a:solidFill>
                  <a:srgbClr val="E2E2E5"/>
                </a:solidFill>
                <a:effectLst/>
                <a:latin typeface="Google Sans Text"/>
              </a:rPr>
              <a:t> Táto technika pridáva do stratovej funkcie penaltu za veľké hodnoty váh v sieti, čím podporuje model, aby preferoval jednoduchšie riešenia s menšími váhami, čo opäť pomáha predchádzať pretrénovaniu.</a:t>
            </a:r>
          </a:p>
          <a:p>
            <a:pPr algn="l"/>
            <a:r>
              <a:rPr lang="sk-SK" b="0" i="0" dirty="0">
                <a:solidFill>
                  <a:srgbClr val="E2E2E5"/>
                </a:solidFill>
                <a:effectLst/>
                <a:latin typeface="Google Sans Text"/>
              </a:rPr>
              <a:t>Celý model bol potom kompilovaný s použitím </a:t>
            </a:r>
            <a:r>
              <a:rPr lang="sk-SK" b="0" i="0" dirty="0" err="1">
                <a:solidFill>
                  <a:srgbClr val="E2E2E5"/>
                </a:solidFill>
                <a:effectLst/>
                <a:latin typeface="Google Sans Text"/>
              </a:rPr>
              <a:t>optimalizátora</a:t>
            </a:r>
            <a:r>
              <a:rPr lang="sk-SK" b="0" i="0" dirty="0">
                <a:solidFill>
                  <a:srgbClr val="E2E2E5"/>
                </a:solidFill>
                <a:effectLst/>
                <a:latin typeface="Google Sans Text"/>
              </a:rPr>
              <a:t> </a:t>
            </a:r>
            <a:r>
              <a:rPr lang="sk-SK" b="0" i="0" dirty="0">
                <a:solidFill>
                  <a:srgbClr val="E2E2E5"/>
                </a:solidFill>
                <a:effectLst/>
                <a:latin typeface="DM Mono"/>
              </a:rPr>
              <a:t>Adam</a:t>
            </a:r>
            <a:r>
              <a:rPr lang="sk-SK" b="0" i="0" dirty="0">
                <a:solidFill>
                  <a:srgbClr val="E2E2E5"/>
                </a:solidFill>
                <a:effectLst/>
                <a:latin typeface="Google Sans Text"/>
              </a:rPr>
              <a:t>, ktorý efektívne adaptuje rýchlosť učenia, a ako stratová funkcia bola zvolená </a:t>
            </a:r>
            <a:r>
              <a:rPr lang="sk-SK" b="0" i="0" dirty="0" err="1">
                <a:solidFill>
                  <a:srgbClr val="E2E2E5"/>
                </a:solidFill>
                <a:effectLst/>
                <a:latin typeface="DM Mono"/>
              </a:rPr>
              <a:t>Mean</a:t>
            </a:r>
            <a:r>
              <a:rPr lang="sk-SK" b="0" i="0" dirty="0">
                <a:solidFill>
                  <a:srgbClr val="E2E2E5"/>
                </a:solidFill>
                <a:effectLst/>
                <a:latin typeface="DM Mono"/>
              </a:rPr>
              <a:t> </a:t>
            </a:r>
            <a:r>
              <a:rPr lang="sk-SK" b="0" i="0" dirty="0" err="1">
                <a:solidFill>
                  <a:srgbClr val="E2E2E5"/>
                </a:solidFill>
                <a:effectLst/>
                <a:latin typeface="DM Mono"/>
              </a:rPr>
              <a:t>Squared</a:t>
            </a:r>
            <a:r>
              <a:rPr lang="sk-SK" b="0" i="0" dirty="0">
                <a:solidFill>
                  <a:srgbClr val="E2E2E5"/>
                </a:solidFill>
                <a:effectLst/>
                <a:latin typeface="DM Mono"/>
              </a:rPr>
              <a:t> </a:t>
            </a:r>
            <a:r>
              <a:rPr lang="sk-SK" b="0" i="0" dirty="0" err="1">
                <a:solidFill>
                  <a:srgbClr val="E2E2E5"/>
                </a:solidFill>
                <a:effectLst/>
                <a:latin typeface="DM Mono"/>
              </a:rPr>
              <a:t>Error</a:t>
            </a:r>
            <a:r>
              <a:rPr lang="sk-SK" b="0" i="0" dirty="0">
                <a:solidFill>
                  <a:srgbClr val="E2E2E5"/>
                </a:solidFill>
                <a:effectLst/>
                <a:latin typeface="Google Sans Text"/>
              </a:rPr>
              <a:t> (MSE), ktorú sa model snažil počas tréningu minimalizovať.</a:t>
            </a:r>
            <a:br>
              <a:rPr lang="sk-SK" b="0" i="0" dirty="0">
                <a:solidFill>
                  <a:srgbClr val="E2E2E5"/>
                </a:solidFill>
                <a:effectLst/>
                <a:latin typeface="Google Sans Text"/>
              </a:rPr>
            </a:br>
            <a:r>
              <a:rPr lang="sk-SK" b="1" i="0" dirty="0">
                <a:solidFill>
                  <a:srgbClr val="E2E2E5"/>
                </a:solidFill>
                <a:effectLst/>
                <a:latin typeface="Google Sans Text"/>
              </a:rPr>
              <a:t>Pri samotnom trénovaní</a:t>
            </a:r>
            <a:r>
              <a:rPr lang="sk-SK" b="0" i="0" dirty="0">
                <a:solidFill>
                  <a:srgbClr val="E2E2E5"/>
                </a:solidFill>
                <a:effectLst/>
                <a:latin typeface="Google Sans Text"/>
              </a:rPr>
              <a:t> dáta neprechádzali modelom naraz, ale v menších </a:t>
            </a:r>
            <a:r>
              <a:rPr lang="sk-SK" b="1" i="0" dirty="0">
                <a:solidFill>
                  <a:srgbClr val="E2E2E5"/>
                </a:solidFill>
                <a:effectLst/>
                <a:latin typeface="Google Sans Text"/>
              </a:rPr>
              <a:t>dávkach (</a:t>
            </a:r>
            <a:r>
              <a:rPr lang="sk-SK" b="1" i="0" dirty="0" err="1">
                <a:solidFill>
                  <a:srgbClr val="E2E2E5"/>
                </a:solidFill>
                <a:effectLst/>
                <a:latin typeface="Google Sans Text"/>
              </a:rPr>
              <a:t>batches</a:t>
            </a:r>
            <a:r>
              <a:rPr lang="sk-SK" b="1" i="0" dirty="0">
                <a:solidFill>
                  <a:srgbClr val="E2E2E5"/>
                </a:solidFill>
                <a:effectLst/>
                <a:latin typeface="Google Sans Text"/>
              </a:rPr>
              <a:t>)</a:t>
            </a:r>
            <a:r>
              <a:rPr lang="sk-SK" b="0" i="0" dirty="0">
                <a:solidFill>
                  <a:srgbClr val="E2E2E5"/>
                </a:solidFill>
                <a:effectLst/>
                <a:latin typeface="Google Sans Text"/>
              </a:rPr>
              <a:t>, napríklad po 64 vzorkách. Po spracovaní každej takejto dávky model upravil svoje váhy. Veľkosť dávky ovplyvňuje rýchlosť tréningu a stabilitu učenia.</a:t>
            </a:r>
            <a:br>
              <a:rPr lang="sk-SK" b="0" i="0" dirty="0">
                <a:solidFill>
                  <a:srgbClr val="E2E2E5"/>
                </a:solidFill>
                <a:effectLst/>
                <a:latin typeface="Google Sans Text"/>
              </a:rPr>
            </a:br>
            <a:r>
              <a:rPr lang="sk-SK" b="0" i="0" dirty="0">
                <a:solidFill>
                  <a:srgbClr val="E2E2E5"/>
                </a:solidFill>
                <a:effectLst/>
                <a:latin typeface="Google Sans Text"/>
              </a:rPr>
              <a:t>Na riadenie tréningu som využil aj tzv. </a:t>
            </a:r>
            <a:r>
              <a:rPr lang="sk-SK" b="0" i="0" dirty="0" err="1">
                <a:solidFill>
                  <a:srgbClr val="E2E2E5"/>
                </a:solidFill>
                <a:effectLst/>
                <a:latin typeface="Google Sans Text"/>
              </a:rPr>
              <a:t>callbacky</a:t>
            </a:r>
            <a:r>
              <a:rPr lang="sk-SK" b="0" i="0" dirty="0">
                <a:solidFill>
                  <a:srgbClr val="E2E2E5"/>
                </a:solidFill>
                <a:effectLst/>
                <a:latin typeface="Google Sans Text"/>
              </a:rPr>
              <a:t>. Kľúčový bol </a:t>
            </a:r>
            <a:r>
              <a:rPr lang="sk-SK" b="1" i="0" dirty="0" err="1">
                <a:solidFill>
                  <a:srgbClr val="E2E2E5"/>
                </a:solidFill>
                <a:effectLst/>
                <a:latin typeface="DM Mono"/>
              </a:rPr>
              <a:t>EarlyStopping</a:t>
            </a:r>
            <a:r>
              <a:rPr lang="sk-SK" b="0" i="0" dirty="0">
                <a:solidFill>
                  <a:srgbClr val="E2E2E5"/>
                </a:solidFill>
                <a:effectLst/>
                <a:latin typeface="Google Sans Text"/>
              </a:rPr>
              <a:t>, ktorý monitoroval výkon modelu na validačných dátach. Ak sa výkon (konkrétne validačná strata) nezlepšil počas stanoveného počtu epoch – tento parameter sa volá </a:t>
            </a:r>
            <a:r>
              <a:rPr lang="sk-SK" b="1" i="0" dirty="0" err="1">
                <a:solidFill>
                  <a:srgbClr val="E2E2E5"/>
                </a:solidFill>
                <a:effectLst/>
                <a:latin typeface="DM Mono"/>
              </a:rPr>
              <a:t>patience</a:t>
            </a:r>
            <a:r>
              <a:rPr lang="sk-SK" b="0" i="0" dirty="0">
                <a:solidFill>
                  <a:srgbClr val="E2E2E5"/>
                </a:solidFill>
                <a:effectLst/>
                <a:latin typeface="Google Sans Text"/>
              </a:rPr>
              <a:t> a bol nastavený napríklad na 20 – tréning sa automaticky zastavil. Tým sa predchádzalo pretrénovaniu a zbytočnému plytvaniu časom. Použil som aj </a:t>
            </a:r>
            <a:r>
              <a:rPr lang="sk-SK" b="0" i="0" dirty="0" err="1">
                <a:solidFill>
                  <a:srgbClr val="E2E2E5"/>
                </a:solidFill>
                <a:effectLst/>
                <a:latin typeface="Google Sans Text"/>
              </a:rPr>
              <a:t>callback</a:t>
            </a:r>
            <a:r>
              <a:rPr lang="sk-SK" b="0" i="0" dirty="0">
                <a:solidFill>
                  <a:srgbClr val="E2E2E5"/>
                </a:solidFill>
                <a:effectLst/>
                <a:latin typeface="Google Sans Text"/>
              </a:rPr>
              <a:t> </a:t>
            </a:r>
            <a:r>
              <a:rPr lang="sk-SK" b="0" i="0" dirty="0" err="1">
                <a:solidFill>
                  <a:srgbClr val="E2E2E5"/>
                </a:solidFill>
                <a:effectLst/>
                <a:latin typeface="DM Mono"/>
              </a:rPr>
              <a:t>ReduceLROnPlateau</a:t>
            </a:r>
            <a:r>
              <a:rPr lang="sk-SK" b="0" i="0" dirty="0">
                <a:solidFill>
                  <a:srgbClr val="E2E2E5"/>
                </a:solidFill>
                <a:effectLst/>
                <a:latin typeface="Google Sans Text"/>
              </a:rPr>
              <a:t>, ktorý v prípade stagnácie validačnej straty znižoval rýchlosť učenia.</a:t>
            </a:r>
          </a:p>
        </p:txBody>
      </p:sp>
      <p:sp>
        <p:nvSpPr>
          <p:cNvPr id="4" name="Slide Number Placeholder 3"/>
          <p:cNvSpPr>
            <a:spLocks noGrp="1"/>
          </p:cNvSpPr>
          <p:nvPr>
            <p:ph type="sldNum" sz="quarter" idx="5"/>
          </p:nvPr>
        </p:nvSpPr>
        <p:spPr/>
        <p:txBody>
          <a:bodyPr/>
          <a:lstStyle/>
          <a:p>
            <a:fld id="{A7261BB1-0BE5-4643-825D-3FA39CA39386}" type="slidenum">
              <a:rPr lang="sk-SK" smtClean="0"/>
              <a:t>7</a:t>
            </a:fld>
            <a:endParaRPr lang="sk-SK"/>
          </a:p>
        </p:txBody>
      </p:sp>
    </p:spTree>
    <p:extLst>
      <p:ext uri="{BB962C8B-B14F-4D97-AF65-F5344CB8AC3E}">
        <p14:creationId xmlns:p14="http://schemas.microsoft.com/office/powerpoint/2010/main" val="14717765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k-SK" b="0" i="0" dirty="0">
                <a:solidFill>
                  <a:srgbClr val="E2E2E5"/>
                </a:solidFill>
                <a:effectLst/>
                <a:latin typeface="Google Sans Text"/>
              </a:rPr>
              <a:t>Prejdime teraz k výsledkom. Pre segment bytov na predaj, ktorý obsahoval vyše 8000 tréningových vzoriek so 123 príznakmi, dosiahol model na testovacej sade </a:t>
            </a:r>
            <a:r>
              <a:rPr lang="sk-SK" b="0" i="0" dirty="0" err="1">
                <a:solidFill>
                  <a:srgbClr val="E2E2E5"/>
                </a:solidFill>
                <a:effectLst/>
                <a:latin typeface="Google Sans Text"/>
              </a:rPr>
              <a:t>Root</a:t>
            </a:r>
            <a:r>
              <a:rPr lang="sk-SK" b="0" i="0" dirty="0">
                <a:solidFill>
                  <a:srgbClr val="E2E2E5"/>
                </a:solidFill>
                <a:effectLst/>
                <a:latin typeface="Google Sans Text"/>
              </a:rPr>
              <a:t> </a:t>
            </a:r>
            <a:r>
              <a:rPr lang="sk-SK" b="0" i="0" dirty="0" err="1">
                <a:solidFill>
                  <a:srgbClr val="E2E2E5"/>
                </a:solidFill>
                <a:effectLst/>
                <a:latin typeface="Google Sans Text"/>
              </a:rPr>
              <a:t>Mean</a:t>
            </a:r>
            <a:r>
              <a:rPr lang="sk-SK" b="0" i="0" dirty="0">
                <a:solidFill>
                  <a:srgbClr val="E2E2E5"/>
                </a:solidFill>
                <a:effectLst/>
                <a:latin typeface="Google Sans Text"/>
              </a:rPr>
              <a:t> </a:t>
            </a:r>
            <a:r>
              <a:rPr lang="sk-SK" b="0" i="0" dirty="0" err="1">
                <a:solidFill>
                  <a:srgbClr val="E2E2E5"/>
                </a:solidFill>
                <a:effectLst/>
                <a:latin typeface="Google Sans Text"/>
              </a:rPr>
              <a:t>Squared</a:t>
            </a:r>
            <a:r>
              <a:rPr lang="sk-SK" b="0" i="0" dirty="0">
                <a:solidFill>
                  <a:srgbClr val="E2E2E5"/>
                </a:solidFill>
                <a:effectLst/>
                <a:latin typeface="Google Sans Text"/>
              </a:rPr>
              <a:t> </a:t>
            </a:r>
            <a:r>
              <a:rPr lang="sk-SK" b="0" i="0" dirty="0" err="1">
                <a:solidFill>
                  <a:srgbClr val="E2E2E5"/>
                </a:solidFill>
                <a:effectLst/>
                <a:latin typeface="Google Sans Text"/>
              </a:rPr>
              <a:t>Error</a:t>
            </a:r>
            <a:r>
              <a:rPr lang="sk-SK" b="0" i="0" dirty="0">
                <a:solidFill>
                  <a:srgbClr val="E2E2E5"/>
                </a:solidFill>
                <a:effectLst/>
                <a:latin typeface="Google Sans Text"/>
              </a:rPr>
              <a:t> približne 36 400 EUR a </a:t>
            </a:r>
            <a:r>
              <a:rPr lang="sk-SK" b="0" i="0" dirty="0" err="1">
                <a:solidFill>
                  <a:srgbClr val="E2E2E5"/>
                </a:solidFill>
                <a:effectLst/>
                <a:latin typeface="Google Sans Text"/>
              </a:rPr>
              <a:t>Mean</a:t>
            </a:r>
            <a:r>
              <a:rPr lang="sk-SK" b="0" i="0" dirty="0">
                <a:solidFill>
                  <a:srgbClr val="E2E2E5"/>
                </a:solidFill>
                <a:effectLst/>
                <a:latin typeface="Google Sans Text"/>
              </a:rPr>
              <a:t> </a:t>
            </a:r>
            <a:r>
              <a:rPr lang="sk-SK" b="0" i="0" dirty="0" err="1">
                <a:solidFill>
                  <a:srgbClr val="E2E2E5"/>
                </a:solidFill>
                <a:effectLst/>
                <a:latin typeface="Google Sans Text"/>
              </a:rPr>
              <a:t>Absolute</a:t>
            </a:r>
            <a:r>
              <a:rPr lang="sk-SK" b="0" i="0" dirty="0">
                <a:solidFill>
                  <a:srgbClr val="E2E2E5"/>
                </a:solidFill>
                <a:effectLst/>
                <a:latin typeface="Google Sans Text"/>
              </a:rPr>
              <a:t> </a:t>
            </a:r>
            <a:r>
              <a:rPr lang="sk-SK" b="0" i="0" dirty="0" err="1">
                <a:solidFill>
                  <a:srgbClr val="E2E2E5"/>
                </a:solidFill>
                <a:effectLst/>
                <a:latin typeface="Google Sans Text"/>
              </a:rPr>
              <a:t>Error</a:t>
            </a:r>
            <a:r>
              <a:rPr lang="sk-SK" b="0" i="0" dirty="0">
                <a:solidFill>
                  <a:srgbClr val="E2E2E5"/>
                </a:solidFill>
                <a:effectLst/>
                <a:latin typeface="Google Sans Text"/>
              </a:rPr>
              <a:t> okolo 22 900 EUR.</a:t>
            </a:r>
            <a:br>
              <a:rPr lang="sk-SK" dirty="0"/>
            </a:br>
            <a:r>
              <a:rPr lang="sk-SK" b="0" i="0" dirty="0">
                <a:solidFill>
                  <a:srgbClr val="E2E2E5"/>
                </a:solidFill>
                <a:effectLst/>
                <a:latin typeface="Google Sans Text"/>
              </a:rPr>
              <a:t>Koeficient determinácie R² bol 0.838, čo znamená, že model dokázal vysvetliť takmer 84% variability cien v tomto segmente.</a:t>
            </a:r>
            <a:br>
              <a:rPr lang="sk-SK" dirty="0"/>
            </a:br>
            <a:r>
              <a:rPr lang="sk-SK" b="0" i="0" dirty="0">
                <a:solidFill>
                  <a:srgbClr val="E2E2E5"/>
                </a:solidFill>
                <a:effectLst/>
                <a:latin typeface="Google Sans Text"/>
              </a:rPr>
              <a:t>Analýza dôležitosti príznakov ukázala, že dominantným faktorom bola rozloha bytu, nasledovaná počtom izieb a skóre stavu nehnuteľnosti.</a:t>
            </a:r>
            <a:br>
              <a:rPr lang="sk-SK" dirty="0"/>
            </a:br>
            <a:r>
              <a:rPr lang="sk-SK" b="0" i="0" dirty="0">
                <a:solidFill>
                  <a:srgbClr val="E2E2E5"/>
                </a:solidFill>
                <a:effectLst/>
                <a:latin typeface="Google Sans Text"/>
              </a:rPr>
              <a:t>Diagnostické grafy, ako napríklad </a:t>
            </a:r>
            <a:r>
              <a:rPr lang="sk-SK" b="0" i="0" dirty="0" err="1">
                <a:solidFill>
                  <a:srgbClr val="E2E2E5"/>
                </a:solidFill>
                <a:effectLst/>
                <a:latin typeface="Google Sans Text"/>
              </a:rPr>
              <a:t>scatter</a:t>
            </a:r>
            <a:r>
              <a:rPr lang="sk-SK" b="0" i="0" dirty="0">
                <a:solidFill>
                  <a:srgbClr val="E2E2E5"/>
                </a:solidFill>
                <a:effectLst/>
                <a:latin typeface="Google Sans Text"/>
              </a:rPr>
              <a:t> plot predikovaných a skutočných cien, ukázali dobrý fit modelu, a distribúcia </a:t>
            </a:r>
            <a:r>
              <a:rPr lang="sk-SK" b="0" i="0" dirty="0" err="1">
                <a:solidFill>
                  <a:srgbClr val="E2E2E5"/>
                </a:solidFill>
                <a:effectLst/>
                <a:latin typeface="Google Sans Text"/>
              </a:rPr>
              <a:t>reziduálov</a:t>
            </a:r>
            <a:r>
              <a:rPr lang="sk-SK" b="0" i="0" dirty="0">
                <a:solidFill>
                  <a:srgbClr val="E2E2E5"/>
                </a:solidFill>
                <a:effectLst/>
                <a:latin typeface="Google Sans Text"/>
              </a:rPr>
              <a:t> bola približne normálna.</a:t>
            </a:r>
            <a:endParaRPr lang="sk-SK" dirty="0"/>
          </a:p>
        </p:txBody>
      </p:sp>
      <p:sp>
        <p:nvSpPr>
          <p:cNvPr id="4" name="Slide Number Placeholder 3"/>
          <p:cNvSpPr>
            <a:spLocks noGrp="1"/>
          </p:cNvSpPr>
          <p:nvPr>
            <p:ph type="sldNum" sz="quarter" idx="5"/>
          </p:nvPr>
        </p:nvSpPr>
        <p:spPr/>
        <p:txBody>
          <a:bodyPr/>
          <a:lstStyle/>
          <a:p>
            <a:fld id="{A7261BB1-0BE5-4643-825D-3FA39CA39386}" type="slidenum">
              <a:rPr lang="sk-SK" smtClean="0"/>
              <a:t>8</a:t>
            </a:fld>
            <a:endParaRPr lang="sk-SK"/>
          </a:p>
        </p:txBody>
      </p:sp>
    </p:spTree>
    <p:extLst>
      <p:ext uri="{BB962C8B-B14F-4D97-AF65-F5344CB8AC3E}">
        <p14:creationId xmlns:p14="http://schemas.microsoft.com/office/powerpoint/2010/main" val="39931806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k-SK" b="0" i="0" dirty="0">
                <a:solidFill>
                  <a:srgbClr val="E2E2E5"/>
                </a:solidFill>
                <a:effectLst/>
                <a:latin typeface="Google Sans Text"/>
              </a:rPr>
              <a:t>Pri segmente bytov na prenájom, kde sme mali k dispozícii menší </a:t>
            </a:r>
            <a:r>
              <a:rPr lang="sk-SK" b="0" i="0" dirty="0" err="1">
                <a:solidFill>
                  <a:srgbClr val="E2E2E5"/>
                </a:solidFill>
                <a:effectLst/>
                <a:latin typeface="Google Sans Text"/>
              </a:rPr>
              <a:t>dataset</a:t>
            </a:r>
            <a:r>
              <a:rPr lang="sk-SK" b="0" i="0" dirty="0">
                <a:solidFill>
                  <a:srgbClr val="E2E2E5"/>
                </a:solidFill>
                <a:effectLst/>
                <a:latin typeface="Google Sans Text"/>
              </a:rPr>
              <a:t> – približne 3300 tréningových vzoriek – boli výsledky o niečo slabšie. </a:t>
            </a:r>
            <a:r>
              <a:rPr lang="sk-SK" b="0" i="0" dirty="0" err="1">
                <a:solidFill>
                  <a:srgbClr val="E2E2E5"/>
                </a:solidFill>
                <a:effectLst/>
                <a:latin typeface="Google Sans Text"/>
              </a:rPr>
              <a:t>Root</a:t>
            </a:r>
            <a:r>
              <a:rPr lang="sk-SK" b="0" i="0" dirty="0">
                <a:solidFill>
                  <a:srgbClr val="E2E2E5"/>
                </a:solidFill>
                <a:effectLst/>
                <a:latin typeface="Google Sans Text"/>
              </a:rPr>
              <a:t> </a:t>
            </a:r>
            <a:r>
              <a:rPr lang="sk-SK" b="0" i="0" dirty="0" err="1">
                <a:solidFill>
                  <a:srgbClr val="E2E2E5"/>
                </a:solidFill>
                <a:effectLst/>
                <a:latin typeface="Google Sans Text"/>
              </a:rPr>
              <a:t>Mean</a:t>
            </a:r>
            <a:r>
              <a:rPr lang="sk-SK" b="0" i="0" dirty="0">
                <a:solidFill>
                  <a:srgbClr val="E2E2E5"/>
                </a:solidFill>
                <a:effectLst/>
                <a:latin typeface="Google Sans Text"/>
              </a:rPr>
              <a:t> </a:t>
            </a:r>
            <a:r>
              <a:rPr lang="sk-SK" b="0" i="0" dirty="0" err="1">
                <a:solidFill>
                  <a:srgbClr val="E2E2E5"/>
                </a:solidFill>
                <a:effectLst/>
                <a:latin typeface="Google Sans Text"/>
              </a:rPr>
              <a:t>Squared</a:t>
            </a:r>
            <a:r>
              <a:rPr lang="sk-SK" b="0" i="0" dirty="0">
                <a:solidFill>
                  <a:srgbClr val="E2E2E5"/>
                </a:solidFill>
                <a:effectLst/>
                <a:latin typeface="Google Sans Text"/>
              </a:rPr>
              <a:t> </a:t>
            </a:r>
            <a:r>
              <a:rPr lang="sk-SK" b="0" i="0" dirty="0" err="1">
                <a:solidFill>
                  <a:srgbClr val="E2E2E5"/>
                </a:solidFill>
                <a:effectLst/>
                <a:latin typeface="Google Sans Text"/>
              </a:rPr>
              <a:t>Error</a:t>
            </a:r>
            <a:r>
              <a:rPr lang="sk-SK" b="0" i="0" dirty="0">
                <a:solidFill>
                  <a:srgbClr val="E2E2E5"/>
                </a:solidFill>
                <a:effectLst/>
                <a:latin typeface="Google Sans Text"/>
              </a:rPr>
              <a:t> dosiahol 155 EUR a </a:t>
            </a:r>
            <a:r>
              <a:rPr lang="sk-SK" b="0" i="0" dirty="0" err="1">
                <a:solidFill>
                  <a:srgbClr val="E2E2E5"/>
                </a:solidFill>
                <a:effectLst/>
                <a:latin typeface="Google Sans Text"/>
              </a:rPr>
              <a:t>Mean</a:t>
            </a:r>
            <a:r>
              <a:rPr lang="sk-SK" b="0" i="0" dirty="0">
                <a:solidFill>
                  <a:srgbClr val="E2E2E5"/>
                </a:solidFill>
                <a:effectLst/>
                <a:latin typeface="Google Sans Text"/>
              </a:rPr>
              <a:t> </a:t>
            </a:r>
            <a:r>
              <a:rPr lang="sk-SK" b="0" i="0" dirty="0" err="1">
                <a:solidFill>
                  <a:srgbClr val="E2E2E5"/>
                </a:solidFill>
                <a:effectLst/>
                <a:latin typeface="Google Sans Text"/>
              </a:rPr>
              <a:t>Absolute</a:t>
            </a:r>
            <a:r>
              <a:rPr lang="sk-SK" b="0" i="0" dirty="0">
                <a:solidFill>
                  <a:srgbClr val="E2E2E5"/>
                </a:solidFill>
                <a:effectLst/>
                <a:latin typeface="Google Sans Text"/>
              </a:rPr>
              <a:t> </a:t>
            </a:r>
            <a:r>
              <a:rPr lang="sk-SK" b="0" i="0" dirty="0" err="1">
                <a:solidFill>
                  <a:srgbClr val="E2E2E5"/>
                </a:solidFill>
                <a:effectLst/>
                <a:latin typeface="Google Sans Text"/>
              </a:rPr>
              <a:t>Error</a:t>
            </a:r>
            <a:r>
              <a:rPr lang="sk-SK" b="0" i="0" dirty="0">
                <a:solidFill>
                  <a:srgbClr val="E2E2E5"/>
                </a:solidFill>
                <a:effectLst/>
                <a:latin typeface="Google Sans Text"/>
              </a:rPr>
              <a:t> 106 EUR.</a:t>
            </a:r>
            <a:br>
              <a:rPr lang="sk-SK" dirty="0"/>
            </a:br>
            <a:r>
              <a:rPr lang="sk-SK" b="0" i="0" dirty="0">
                <a:solidFill>
                  <a:srgbClr val="E2E2E5"/>
                </a:solidFill>
                <a:effectLst/>
                <a:latin typeface="Google Sans Text"/>
              </a:rPr>
              <a:t>Koeficient determinácie R² bol 0.704, čo znamená, že model vysvetlil približne 70% variability cien. Toto je najnižšia hodnota R² spomedzi testovaných modelov a naznačuje priestor na zlepšenie, pravdepodobne kvôli menšiemu objemu dát alebo špecifikám tohto trhového segmentu.</a:t>
            </a:r>
            <a:br>
              <a:rPr lang="sk-SK" dirty="0"/>
            </a:br>
            <a:r>
              <a:rPr lang="sk-SK" b="0" i="0" dirty="0">
                <a:solidFill>
                  <a:srgbClr val="E2E2E5"/>
                </a:solidFill>
                <a:effectLst/>
                <a:latin typeface="Google Sans Text"/>
              </a:rPr>
              <a:t>Čo sa týka dôležitosti príznakov, opäť dominovali rozloha a počet izieb. Zaujímavosťou bola relatívne vyššia dôležitosť príznaku </a:t>
            </a:r>
            <a:r>
              <a:rPr lang="sk-SK" b="0" i="0" dirty="0" err="1">
                <a:solidFill>
                  <a:srgbClr val="E2E2E5"/>
                </a:solidFill>
                <a:effectLst/>
                <a:latin typeface="DM Mono"/>
              </a:rPr>
              <a:t>is_renovated</a:t>
            </a:r>
            <a:r>
              <a:rPr lang="sk-SK" b="0" i="0" dirty="0">
                <a:solidFill>
                  <a:srgbClr val="E2E2E5"/>
                </a:solidFill>
                <a:effectLst/>
                <a:latin typeface="Google Sans Text"/>
              </a:rPr>
              <a:t> (či je byt rekonštruovaný) a tiež časových faktorov, ako napríklad počet dní od publikácie inzerátu.</a:t>
            </a:r>
            <a:br>
              <a:rPr lang="sk-SK" dirty="0"/>
            </a:br>
            <a:r>
              <a:rPr lang="sk-SK" b="0" i="0" dirty="0">
                <a:solidFill>
                  <a:srgbClr val="E2E2E5"/>
                </a:solidFill>
                <a:effectLst/>
                <a:latin typeface="Google Sans Text"/>
              </a:rPr>
              <a:t>Diagnostické grafy ukázali o niečo väčší rozptyl predikcií v porovnaní s modelom pre predaj</a:t>
            </a:r>
            <a:endParaRPr lang="sk-SK" dirty="0"/>
          </a:p>
        </p:txBody>
      </p:sp>
      <p:sp>
        <p:nvSpPr>
          <p:cNvPr id="4" name="Slide Number Placeholder 3"/>
          <p:cNvSpPr>
            <a:spLocks noGrp="1"/>
          </p:cNvSpPr>
          <p:nvPr>
            <p:ph type="sldNum" sz="quarter" idx="5"/>
          </p:nvPr>
        </p:nvSpPr>
        <p:spPr/>
        <p:txBody>
          <a:bodyPr/>
          <a:lstStyle/>
          <a:p>
            <a:fld id="{A7261BB1-0BE5-4643-825D-3FA39CA39386}" type="slidenum">
              <a:rPr lang="sk-SK" smtClean="0"/>
              <a:t>9</a:t>
            </a:fld>
            <a:endParaRPr lang="sk-SK"/>
          </a:p>
        </p:txBody>
      </p:sp>
    </p:spTree>
    <p:extLst>
      <p:ext uri="{BB962C8B-B14F-4D97-AF65-F5344CB8AC3E}">
        <p14:creationId xmlns:p14="http://schemas.microsoft.com/office/powerpoint/2010/main" val="13486984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k-SK" b="0" i="0" dirty="0">
                <a:solidFill>
                  <a:srgbClr val="E2E2E5"/>
                </a:solidFill>
                <a:effectLst/>
                <a:latin typeface="Google Sans Text"/>
              </a:rPr>
              <a:t>Najzaujímavejšie výsledky priniesol model pre kombinovaný segment bytov, ktorý zahŕňal ponuky na predaj aj prenájom a využíval príznak </a:t>
            </a:r>
            <a:r>
              <a:rPr lang="sk-SK" b="0" i="0" dirty="0" err="1">
                <a:solidFill>
                  <a:srgbClr val="E2E2E5"/>
                </a:solidFill>
                <a:effectLst/>
                <a:latin typeface="DM Mono"/>
              </a:rPr>
              <a:t>is_for_sale</a:t>
            </a:r>
            <a:r>
              <a:rPr lang="sk-SK" b="0" i="0" dirty="0">
                <a:solidFill>
                  <a:srgbClr val="E2E2E5"/>
                </a:solidFill>
                <a:effectLst/>
                <a:latin typeface="Google Sans Text"/>
              </a:rPr>
              <a:t>. Tento model bol trénovaný na najväčšom </a:t>
            </a:r>
            <a:r>
              <a:rPr lang="sk-SK" b="0" i="0" dirty="0" err="1">
                <a:solidFill>
                  <a:srgbClr val="E2E2E5"/>
                </a:solidFill>
                <a:effectLst/>
                <a:latin typeface="Google Sans Text"/>
              </a:rPr>
              <a:t>datasete</a:t>
            </a:r>
            <a:r>
              <a:rPr lang="sk-SK" b="0" i="0" dirty="0">
                <a:solidFill>
                  <a:srgbClr val="E2E2E5"/>
                </a:solidFill>
                <a:effectLst/>
                <a:latin typeface="Google Sans Text"/>
              </a:rPr>
              <a:t>, takmer 12-tisíc vzorkách.</a:t>
            </a:r>
            <a:br>
              <a:rPr lang="sk-SK" dirty="0"/>
            </a:br>
            <a:r>
              <a:rPr lang="sk-SK" b="0" i="0" dirty="0">
                <a:solidFill>
                  <a:srgbClr val="E2E2E5"/>
                </a:solidFill>
                <a:effectLst/>
                <a:latin typeface="Google Sans Text"/>
              </a:rPr>
              <a:t>Celkové metriky na prvý pohľad vyzerali vynikajúco: celkový koeficient determinácie R² dosiahol až 0.924.</a:t>
            </a:r>
            <a:br>
              <a:rPr lang="sk-SK" dirty="0"/>
            </a:br>
            <a:r>
              <a:rPr lang="sk-SK" b="0" i="0" dirty="0">
                <a:solidFill>
                  <a:srgbClr val="E2E2E5"/>
                </a:solidFill>
                <a:effectLst/>
                <a:latin typeface="Google Sans Text"/>
              </a:rPr>
              <a:t>Avšak, keď sme sa pozreli na výkon modelu separátne pre podskupinu bytov na predaj a prenájom, odhalili sme kritický problém. Zatiaľ čo pre byty na predaj dosahoval model veľmi dobré výsledky, porovnateľné so špecializovaným modelom (R² okolo 0.82), pre byty na prenájom bol jeho výkon extrémne zlý. Koeficient R² tu dosiahol zápornú hodnotu -2.87, čo znamená, že model bol pre prenájmy výrazne horší ako jednoduchý odhad priemernej ceny. RMSE pre prenájom bolo tiež násobne vyššie ako pri separátnom modeli pre prenájom.</a:t>
            </a:r>
            <a:br>
              <a:rPr lang="sk-SK" dirty="0"/>
            </a:br>
            <a:r>
              <a:rPr lang="sk-SK" b="0" i="0" dirty="0">
                <a:solidFill>
                  <a:srgbClr val="E2E2E5"/>
                </a:solidFill>
                <a:effectLst/>
                <a:latin typeface="Google Sans Text"/>
              </a:rPr>
              <a:t>Analýza dôležitosti príznakov ukázala, že príznak </a:t>
            </a:r>
            <a:r>
              <a:rPr lang="sk-SK" b="0" i="0" dirty="0" err="1">
                <a:solidFill>
                  <a:srgbClr val="E2E2E5"/>
                </a:solidFill>
                <a:effectLst/>
                <a:latin typeface="DM Mono"/>
              </a:rPr>
              <a:t>is_for_sale</a:t>
            </a:r>
            <a:r>
              <a:rPr lang="sk-SK" b="0" i="0" dirty="0">
                <a:solidFill>
                  <a:srgbClr val="E2E2E5"/>
                </a:solidFill>
                <a:effectLst/>
                <a:latin typeface="Google Sans Text"/>
              </a:rPr>
              <a:t> bol absolútne dominantný. Zdá sa, že model sa naučil primárne rozlišovať tieto dva cenové režimy, ale pri optimalizácii stratovej funkcie MSE, ktorá je citlivá na veľké absolútne chyby, sa zameral hlavne na drahšie byty na predaj a presnosť pre násobne lacnejšie prenájmy bola zanedbaná. Vysoký celkový R² bol teda v tomto prípade zavádzajúci. </a:t>
            </a:r>
            <a:endParaRPr lang="sk-SK" dirty="0"/>
          </a:p>
        </p:txBody>
      </p:sp>
      <p:sp>
        <p:nvSpPr>
          <p:cNvPr id="4" name="Slide Number Placeholder 3"/>
          <p:cNvSpPr>
            <a:spLocks noGrp="1"/>
          </p:cNvSpPr>
          <p:nvPr>
            <p:ph type="sldNum" sz="quarter" idx="5"/>
          </p:nvPr>
        </p:nvSpPr>
        <p:spPr/>
        <p:txBody>
          <a:bodyPr/>
          <a:lstStyle/>
          <a:p>
            <a:fld id="{A7261BB1-0BE5-4643-825D-3FA39CA39386}" type="slidenum">
              <a:rPr lang="sk-SK" smtClean="0"/>
              <a:t>10</a:t>
            </a:fld>
            <a:endParaRPr lang="sk-SK"/>
          </a:p>
        </p:txBody>
      </p:sp>
    </p:spTree>
    <p:extLst>
      <p:ext uri="{BB962C8B-B14F-4D97-AF65-F5344CB8AC3E}">
        <p14:creationId xmlns:p14="http://schemas.microsoft.com/office/powerpoint/2010/main" val="23121770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k-SK" b="0" i="0" dirty="0">
                <a:solidFill>
                  <a:srgbClr val="E2E2E5"/>
                </a:solidFill>
                <a:effectLst/>
                <a:latin typeface="Google Sans Text"/>
              </a:rPr>
              <a:t>Celkovo sa v rámci projektu podarilo vyvinúť funkčný </a:t>
            </a:r>
            <a:r>
              <a:rPr lang="sk-SK" b="0" i="0" dirty="0" err="1">
                <a:solidFill>
                  <a:srgbClr val="E2E2E5"/>
                </a:solidFill>
                <a:effectLst/>
                <a:latin typeface="Google Sans Text"/>
              </a:rPr>
              <a:t>pipeline</a:t>
            </a:r>
            <a:r>
              <a:rPr lang="sk-SK" b="0" i="0" dirty="0">
                <a:solidFill>
                  <a:srgbClr val="E2E2E5"/>
                </a:solidFill>
                <a:effectLst/>
                <a:latin typeface="Google Sans Text"/>
              </a:rPr>
              <a:t> od zberu dát až po modelovanie. Dosiahli sme sľubné výsledky najmä pre separátny model predaja bytov a tiež pre predajnú časť kombinovaného modelu.</a:t>
            </a:r>
            <a:br>
              <a:rPr lang="sk-SK" dirty="0"/>
            </a:br>
            <a:r>
              <a:rPr lang="sk-SK" b="0" i="0" dirty="0">
                <a:solidFill>
                  <a:srgbClr val="E2E2E5"/>
                </a:solidFill>
                <a:effectLst/>
                <a:latin typeface="Google Sans Text"/>
              </a:rPr>
              <a:t>Práca však narazila aj na niekoľko kľúčových limitácií. Statický charakter zberu dát neumožnil zachytiť plnú dynamiku trhu. Kvalita a kompletnosť dát z realitných portálov je tiež inherentným obmedzením. Spracovanie lokalizačných dát, najmä ulíc s vysokým počtom unikátnych hodnôt, predstavuje stále výzvu.</a:t>
            </a:r>
            <a:br>
              <a:rPr lang="sk-SK" dirty="0"/>
            </a:br>
            <a:r>
              <a:rPr lang="sk-SK" b="0" i="0" dirty="0">
                <a:solidFill>
                  <a:srgbClr val="E2E2E5"/>
                </a:solidFill>
                <a:effectLst/>
                <a:latin typeface="Google Sans Text"/>
              </a:rPr>
              <a:t>Ako sme videli, najväčším problémom bolo modelovanie veľmi heterogénnych cenových úrovní predaja a prenájmu jediným modelom s použitím MSE ako stratovej funkcie, čo viedlo k zlému výkonu pre kategóriu prenájmu v kombinovanom modeli. A nakoniec, projekt nebral do úvahy externé ekonomické faktory.</a:t>
            </a:r>
            <a:endParaRPr lang="en-US" b="0" i="0" dirty="0">
              <a:solidFill>
                <a:srgbClr val="E2E2E5"/>
              </a:solidFill>
              <a:effectLst/>
              <a:latin typeface="Google Sans Text"/>
            </a:endParaRPr>
          </a:p>
          <a:p>
            <a:r>
              <a:rPr lang="sk-SK" b="0" i="0" dirty="0">
                <a:solidFill>
                  <a:srgbClr val="E2E2E5"/>
                </a:solidFill>
                <a:effectLst/>
                <a:latin typeface="Google Sans Text"/>
              </a:rPr>
              <a:t>Na základe týchto zistení a limitácií vidím niekoľko smerov pre budúci vývoj. Kľúčové by bolo implementovať dynamický, ideálne denný, zber dát. Veľký potenciál na zlepšenie vidím v pokročilejšom spracovaní lokalizačných dát, napríklad pomocou presného </a:t>
            </a:r>
            <a:r>
              <a:rPr lang="sk-SK" b="0" i="0" dirty="0" err="1">
                <a:solidFill>
                  <a:srgbClr val="E2E2E5"/>
                </a:solidFill>
                <a:effectLst/>
                <a:latin typeface="Google Sans Text"/>
              </a:rPr>
              <a:t>geokódovania</a:t>
            </a:r>
            <a:r>
              <a:rPr lang="sk-SK" b="0" i="0" dirty="0">
                <a:solidFill>
                  <a:srgbClr val="E2E2E5"/>
                </a:solidFill>
                <a:effectLst/>
                <a:latin typeface="Google Sans Text"/>
              </a:rPr>
              <a:t>, integrácie dát o bodoch záujmu, alebo použitím </a:t>
            </a:r>
            <a:r>
              <a:rPr lang="sk-SK" b="0" i="0" dirty="0" err="1">
                <a:solidFill>
                  <a:srgbClr val="E2E2E5"/>
                </a:solidFill>
                <a:effectLst/>
                <a:latin typeface="Google Sans Text"/>
              </a:rPr>
              <a:t>embedding</a:t>
            </a:r>
            <a:r>
              <a:rPr lang="sk-SK" b="0" i="0" dirty="0">
                <a:solidFill>
                  <a:srgbClr val="E2E2E5"/>
                </a:solidFill>
                <a:effectLst/>
                <a:latin typeface="Google Sans Text"/>
              </a:rPr>
              <a:t> vrstiev pre adresy priamo v neurónovej sieti.</a:t>
            </a:r>
            <a:br>
              <a:rPr lang="sk-SK" dirty="0"/>
            </a:br>
            <a:r>
              <a:rPr lang="sk-SK" b="0" i="0" dirty="0">
                <a:solidFill>
                  <a:srgbClr val="E2E2E5"/>
                </a:solidFill>
                <a:effectLst/>
                <a:latin typeface="Google Sans Text"/>
              </a:rPr>
              <a:t>Tiež by bolo zaujímavé experimentovať s inými architektúrami modelov, ako napríklad gradient </a:t>
            </a:r>
            <a:r>
              <a:rPr lang="sk-SK" b="0" i="0" dirty="0" err="1">
                <a:solidFill>
                  <a:srgbClr val="E2E2E5"/>
                </a:solidFill>
                <a:effectLst/>
                <a:latin typeface="Google Sans Text"/>
              </a:rPr>
              <a:t>boosting</a:t>
            </a:r>
            <a:r>
              <a:rPr lang="sk-SK" b="0" i="0" dirty="0">
                <a:solidFill>
                  <a:srgbClr val="E2E2E5"/>
                </a:solidFill>
                <a:effectLst/>
                <a:latin typeface="Google Sans Text"/>
              </a:rPr>
              <a:t> stroje, alebo preskúmať iné stratové funkcie pre kombinovaný model, ktoré by lepšie vyvažovali chyby z rôznych cenových kategórií. Zahrnutie makroekonomických dát by mohlo prispieť k lepším dlhodobým predikciám.</a:t>
            </a:r>
            <a:br>
              <a:rPr lang="sk-SK" dirty="0"/>
            </a:br>
            <a:r>
              <a:rPr lang="sk-SK" b="0" i="0" dirty="0">
                <a:solidFill>
                  <a:srgbClr val="E2E2E5"/>
                </a:solidFill>
                <a:effectLst/>
                <a:latin typeface="Google Sans Text"/>
              </a:rPr>
              <a:t>Záverom, tento projekt úspešne demonštroval celý cyklus práce s realitnými dátami. Hoci priniesol sľubné výsledky, odhalil aj zaujímavé výzvy, najmä pri pokuse modelovať veľmi heterogénne dáta jediným modelom. Na základe výsledkov sa zdá, že trénovanie separátnych, špecializovaných modelov pre segmenty predaja a prenájmu je v súčasnosti robustnejšou a presnejšou stratégiou.</a:t>
            </a:r>
            <a:endParaRPr lang="sk-SK" dirty="0"/>
          </a:p>
        </p:txBody>
      </p:sp>
      <p:sp>
        <p:nvSpPr>
          <p:cNvPr id="4" name="Slide Number Placeholder 3"/>
          <p:cNvSpPr>
            <a:spLocks noGrp="1"/>
          </p:cNvSpPr>
          <p:nvPr>
            <p:ph type="sldNum" sz="quarter" idx="5"/>
          </p:nvPr>
        </p:nvSpPr>
        <p:spPr/>
        <p:txBody>
          <a:bodyPr/>
          <a:lstStyle/>
          <a:p>
            <a:fld id="{A7261BB1-0BE5-4643-825D-3FA39CA39386}" type="slidenum">
              <a:rPr lang="sk-SK" smtClean="0"/>
              <a:t>11</a:t>
            </a:fld>
            <a:endParaRPr lang="sk-SK"/>
          </a:p>
        </p:txBody>
      </p:sp>
    </p:spTree>
    <p:extLst>
      <p:ext uri="{BB962C8B-B14F-4D97-AF65-F5344CB8AC3E}">
        <p14:creationId xmlns:p14="http://schemas.microsoft.com/office/powerpoint/2010/main" val="9724144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8407405-DE30-4BE7-BEFA-1B2BDA329D0A}" type="datetimeFigureOut">
              <a:rPr lang="sk-SK" smtClean="0"/>
              <a:t>2. 6. 2025</a:t>
            </a:fld>
            <a:endParaRPr lang="sk-SK"/>
          </a:p>
        </p:txBody>
      </p:sp>
      <p:sp>
        <p:nvSpPr>
          <p:cNvPr id="5" name="Footer Placeholder 4"/>
          <p:cNvSpPr>
            <a:spLocks noGrp="1"/>
          </p:cNvSpPr>
          <p:nvPr>
            <p:ph type="ftr" sz="quarter" idx="11"/>
          </p:nvPr>
        </p:nvSpPr>
        <p:spPr/>
        <p:txBody>
          <a:bodyPr/>
          <a:lstStyle/>
          <a:p>
            <a:endParaRPr lang="sk-SK"/>
          </a:p>
        </p:txBody>
      </p:sp>
      <p:sp>
        <p:nvSpPr>
          <p:cNvPr id="6" name="Slide Number Placeholder 5"/>
          <p:cNvSpPr>
            <a:spLocks noGrp="1"/>
          </p:cNvSpPr>
          <p:nvPr>
            <p:ph type="sldNum" sz="quarter" idx="12"/>
          </p:nvPr>
        </p:nvSpPr>
        <p:spPr/>
        <p:txBody>
          <a:bodyPr/>
          <a:lstStyle/>
          <a:p>
            <a:fld id="{6D1D1725-B03E-47D9-9201-E2D261E1B81F}" type="slidenum">
              <a:rPr lang="sk-SK" smtClean="0"/>
              <a:t>‹#›</a:t>
            </a:fld>
            <a:endParaRPr lang="sk-SK"/>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2994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8407405-DE30-4BE7-BEFA-1B2BDA329D0A}" type="datetimeFigureOut">
              <a:rPr lang="sk-SK" smtClean="0"/>
              <a:t>2. 6. 2025</a:t>
            </a:fld>
            <a:endParaRPr lang="sk-SK"/>
          </a:p>
        </p:txBody>
      </p:sp>
      <p:sp>
        <p:nvSpPr>
          <p:cNvPr id="5" name="Footer Placeholder 4"/>
          <p:cNvSpPr>
            <a:spLocks noGrp="1"/>
          </p:cNvSpPr>
          <p:nvPr>
            <p:ph type="ftr" sz="quarter" idx="11"/>
          </p:nvPr>
        </p:nvSpPr>
        <p:spPr/>
        <p:txBody>
          <a:bodyPr/>
          <a:lstStyle/>
          <a:p>
            <a:endParaRPr lang="sk-SK"/>
          </a:p>
        </p:txBody>
      </p:sp>
      <p:sp>
        <p:nvSpPr>
          <p:cNvPr id="6" name="Slide Number Placeholder 5"/>
          <p:cNvSpPr>
            <a:spLocks noGrp="1"/>
          </p:cNvSpPr>
          <p:nvPr>
            <p:ph type="sldNum" sz="quarter" idx="12"/>
          </p:nvPr>
        </p:nvSpPr>
        <p:spPr/>
        <p:txBody>
          <a:bodyPr/>
          <a:lstStyle/>
          <a:p>
            <a:fld id="{6D1D1725-B03E-47D9-9201-E2D261E1B81F}" type="slidenum">
              <a:rPr lang="sk-SK" smtClean="0"/>
              <a:t>‹#›</a:t>
            </a:fld>
            <a:endParaRPr lang="sk-SK"/>
          </a:p>
        </p:txBody>
      </p:sp>
    </p:spTree>
    <p:extLst>
      <p:ext uri="{BB962C8B-B14F-4D97-AF65-F5344CB8AC3E}">
        <p14:creationId xmlns:p14="http://schemas.microsoft.com/office/powerpoint/2010/main" val="508368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8407405-DE30-4BE7-BEFA-1B2BDA329D0A}" type="datetimeFigureOut">
              <a:rPr lang="sk-SK" smtClean="0"/>
              <a:t>2. 6. 2025</a:t>
            </a:fld>
            <a:endParaRPr lang="sk-SK"/>
          </a:p>
        </p:txBody>
      </p:sp>
      <p:sp>
        <p:nvSpPr>
          <p:cNvPr id="5" name="Footer Placeholder 4"/>
          <p:cNvSpPr>
            <a:spLocks noGrp="1"/>
          </p:cNvSpPr>
          <p:nvPr>
            <p:ph type="ftr" sz="quarter" idx="11"/>
          </p:nvPr>
        </p:nvSpPr>
        <p:spPr/>
        <p:txBody>
          <a:bodyPr/>
          <a:lstStyle/>
          <a:p>
            <a:endParaRPr lang="sk-SK"/>
          </a:p>
        </p:txBody>
      </p:sp>
      <p:sp>
        <p:nvSpPr>
          <p:cNvPr id="6" name="Slide Number Placeholder 5"/>
          <p:cNvSpPr>
            <a:spLocks noGrp="1"/>
          </p:cNvSpPr>
          <p:nvPr>
            <p:ph type="sldNum" sz="quarter" idx="12"/>
          </p:nvPr>
        </p:nvSpPr>
        <p:spPr/>
        <p:txBody>
          <a:bodyPr/>
          <a:lstStyle/>
          <a:p>
            <a:fld id="{6D1D1725-B03E-47D9-9201-E2D261E1B81F}" type="slidenum">
              <a:rPr lang="sk-SK" smtClean="0"/>
              <a:t>‹#›</a:t>
            </a:fld>
            <a:endParaRPr lang="sk-SK"/>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58562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407405-DE30-4BE7-BEFA-1B2BDA329D0A}" type="datetimeFigureOut">
              <a:rPr lang="sk-SK" smtClean="0"/>
              <a:t>2. 6. 2025</a:t>
            </a:fld>
            <a:endParaRPr lang="sk-SK"/>
          </a:p>
        </p:txBody>
      </p:sp>
      <p:sp>
        <p:nvSpPr>
          <p:cNvPr id="6" name="Footer Placeholder 5"/>
          <p:cNvSpPr>
            <a:spLocks noGrp="1"/>
          </p:cNvSpPr>
          <p:nvPr>
            <p:ph type="ftr" sz="quarter" idx="11"/>
          </p:nvPr>
        </p:nvSpPr>
        <p:spPr/>
        <p:txBody>
          <a:bodyPr/>
          <a:lstStyle/>
          <a:p>
            <a:endParaRPr lang="sk-SK"/>
          </a:p>
        </p:txBody>
      </p:sp>
      <p:sp>
        <p:nvSpPr>
          <p:cNvPr id="7" name="Slide Number Placeholder 6"/>
          <p:cNvSpPr>
            <a:spLocks noGrp="1"/>
          </p:cNvSpPr>
          <p:nvPr>
            <p:ph type="sldNum" sz="quarter" idx="12"/>
          </p:nvPr>
        </p:nvSpPr>
        <p:spPr/>
        <p:txBody>
          <a:bodyPr/>
          <a:lstStyle/>
          <a:p>
            <a:fld id="{6D1D1725-B03E-47D9-9201-E2D261E1B81F}" type="slidenum">
              <a:rPr lang="sk-SK" smtClean="0"/>
              <a:t>‹#›</a:t>
            </a:fld>
            <a:endParaRPr lang="sk-SK"/>
          </a:p>
        </p:txBody>
      </p:sp>
    </p:spTree>
    <p:extLst>
      <p:ext uri="{BB962C8B-B14F-4D97-AF65-F5344CB8AC3E}">
        <p14:creationId xmlns:p14="http://schemas.microsoft.com/office/powerpoint/2010/main" val="6133782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8407405-DE30-4BE7-BEFA-1B2BDA329D0A}" type="datetimeFigureOut">
              <a:rPr lang="sk-SK" smtClean="0"/>
              <a:t>2. 6. 2025</a:t>
            </a:fld>
            <a:endParaRPr lang="sk-SK"/>
          </a:p>
        </p:txBody>
      </p:sp>
      <p:sp>
        <p:nvSpPr>
          <p:cNvPr id="8" name="Footer Placeholder 7"/>
          <p:cNvSpPr>
            <a:spLocks noGrp="1"/>
          </p:cNvSpPr>
          <p:nvPr>
            <p:ph type="ftr" sz="quarter" idx="11"/>
          </p:nvPr>
        </p:nvSpPr>
        <p:spPr/>
        <p:txBody>
          <a:bodyPr/>
          <a:lstStyle/>
          <a:p>
            <a:endParaRPr lang="sk-SK"/>
          </a:p>
        </p:txBody>
      </p:sp>
      <p:sp>
        <p:nvSpPr>
          <p:cNvPr id="9" name="Slide Number Placeholder 8"/>
          <p:cNvSpPr>
            <a:spLocks noGrp="1"/>
          </p:cNvSpPr>
          <p:nvPr>
            <p:ph type="sldNum" sz="quarter" idx="12"/>
          </p:nvPr>
        </p:nvSpPr>
        <p:spPr/>
        <p:txBody>
          <a:bodyPr/>
          <a:lstStyle/>
          <a:p>
            <a:fld id="{6D1D1725-B03E-47D9-9201-E2D261E1B81F}" type="slidenum">
              <a:rPr lang="sk-SK" smtClean="0"/>
              <a:t>‹#›</a:t>
            </a:fld>
            <a:endParaRPr lang="sk-SK"/>
          </a:p>
        </p:txBody>
      </p:sp>
    </p:spTree>
    <p:extLst>
      <p:ext uri="{BB962C8B-B14F-4D97-AF65-F5344CB8AC3E}">
        <p14:creationId xmlns:p14="http://schemas.microsoft.com/office/powerpoint/2010/main" val="36622153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8407405-DE30-4BE7-BEFA-1B2BDA329D0A}" type="datetimeFigureOut">
              <a:rPr lang="sk-SK" smtClean="0"/>
              <a:t>2. 6. 2025</a:t>
            </a:fld>
            <a:endParaRPr lang="sk-SK"/>
          </a:p>
        </p:txBody>
      </p:sp>
      <p:sp>
        <p:nvSpPr>
          <p:cNvPr id="4" name="Footer Placeholder 3"/>
          <p:cNvSpPr>
            <a:spLocks noGrp="1"/>
          </p:cNvSpPr>
          <p:nvPr>
            <p:ph type="ftr" sz="quarter" idx="11"/>
          </p:nvPr>
        </p:nvSpPr>
        <p:spPr/>
        <p:txBody>
          <a:bodyPr/>
          <a:lstStyle/>
          <a:p>
            <a:endParaRPr lang="sk-SK"/>
          </a:p>
        </p:txBody>
      </p:sp>
      <p:sp>
        <p:nvSpPr>
          <p:cNvPr id="5" name="Slide Number Placeholder 4"/>
          <p:cNvSpPr>
            <a:spLocks noGrp="1"/>
          </p:cNvSpPr>
          <p:nvPr>
            <p:ph type="sldNum" sz="quarter" idx="12"/>
          </p:nvPr>
        </p:nvSpPr>
        <p:spPr/>
        <p:txBody>
          <a:bodyPr/>
          <a:lstStyle/>
          <a:p>
            <a:fld id="{6D1D1725-B03E-47D9-9201-E2D261E1B81F}" type="slidenum">
              <a:rPr lang="sk-SK" smtClean="0"/>
              <a:t>‹#›</a:t>
            </a:fld>
            <a:endParaRPr lang="sk-SK"/>
          </a:p>
        </p:txBody>
      </p:sp>
    </p:spTree>
    <p:extLst>
      <p:ext uri="{BB962C8B-B14F-4D97-AF65-F5344CB8AC3E}">
        <p14:creationId xmlns:p14="http://schemas.microsoft.com/office/powerpoint/2010/main" val="18761310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38407405-DE30-4BE7-BEFA-1B2BDA329D0A}" type="datetimeFigureOut">
              <a:rPr lang="sk-SK" smtClean="0"/>
              <a:t>2. 6. 2025</a:t>
            </a:fld>
            <a:endParaRPr lang="sk-SK"/>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sk-SK"/>
          </a:p>
        </p:txBody>
      </p:sp>
      <p:sp>
        <p:nvSpPr>
          <p:cNvPr id="9" name="Slide Number Placeholder 8"/>
          <p:cNvSpPr>
            <a:spLocks noGrp="1"/>
          </p:cNvSpPr>
          <p:nvPr>
            <p:ph type="sldNum" sz="quarter" idx="12"/>
          </p:nvPr>
        </p:nvSpPr>
        <p:spPr/>
        <p:txBody>
          <a:bodyPr/>
          <a:lstStyle/>
          <a:p>
            <a:fld id="{6D1D1725-B03E-47D9-9201-E2D261E1B81F}" type="slidenum">
              <a:rPr lang="sk-SK" smtClean="0"/>
              <a:t>‹#›</a:t>
            </a:fld>
            <a:endParaRPr lang="sk-SK"/>
          </a:p>
        </p:txBody>
      </p:sp>
    </p:spTree>
    <p:extLst>
      <p:ext uri="{BB962C8B-B14F-4D97-AF65-F5344CB8AC3E}">
        <p14:creationId xmlns:p14="http://schemas.microsoft.com/office/powerpoint/2010/main" val="21463479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8407405-DE30-4BE7-BEFA-1B2BDA329D0A}" type="datetimeFigureOut">
              <a:rPr lang="sk-SK" smtClean="0"/>
              <a:t>2. 6. 2025</a:t>
            </a:fld>
            <a:endParaRPr lang="sk-SK"/>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sk-SK"/>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6D1D1725-B03E-47D9-9201-E2D261E1B81F}" type="slidenum">
              <a:rPr lang="sk-SK" smtClean="0"/>
              <a:t>‹#›</a:t>
            </a:fld>
            <a:endParaRPr lang="sk-SK"/>
          </a:p>
        </p:txBody>
      </p:sp>
    </p:spTree>
    <p:extLst>
      <p:ext uri="{BB962C8B-B14F-4D97-AF65-F5344CB8AC3E}">
        <p14:creationId xmlns:p14="http://schemas.microsoft.com/office/powerpoint/2010/main" val="12472039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8407405-DE30-4BE7-BEFA-1B2BDA329D0A}" type="datetimeFigureOut">
              <a:rPr lang="sk-SK" smtClean="0"/>
              <a:t>2. 6. 2025</a:t>
            </a:fld>
            <a:endParaRPr lang="sk-SK"/>
          </a:p>
        </p:txBody>
      </p:sp>
      <p:sp>
        <p:nvSpPr>
          <p:cNvPr id="6" name="Footer Placeholder 5"/>
          <p:cNvSpPr>
            <a:spLocks noGrp="1"/>
          </p:cNvSpPr>
          <p:nvPr>
            <p:ph type="ftr" sz="quarter" idx="11"/>
          </p:nvPr>
        </p:nvSpPr>
        <p:spPr/>
        <p:txBody>
          <a:bodyPr/>
          <a:lstStyle/>
          <a:p>
            <a:endParaRPr lang="sk-SK"/>
          </a:p>
        </p:txBody>
      </p:sp>
      <p:sp>
        <p:nvSpPr>
          <p:cNvPr id="7" name="Slide Number Placeholder 6"/>
          <p:cNvSpPr>
            <a:spLocks noGrp="1"/>
          </p:cNvSpPr>
          <p:nvPr>
            <p:ph type="sldNum" sz="quarter" idx="12"/>
          </p:nvPr>
        </p:nvSpPr>
        <p:spPr/>
        <p:txBody>
          <a:bodyPr/>
          <a:lstStyle/>
          <a:p>
            <a:fld id="{6D1D1725-B03E-47D9-9201-E2D261E1B81F}" type="slidenum">
              <a:rPr lang="sk-SK" smtClean="0"/>
              <a:t>‹#›</a:t>
            </a:fld>
            <a:endParaRPr lang="sk-SK"/>
          </a:p>
        </p:txBody>
      </p:sp>
    </p:spTree>
    <p:extLst>
      <p:ext uri="{BB962C8B-B14F-4D97-AF65-F5344CB8AC3E}">
        <p14:creationId xmlns:p14="http://schemas.microsoft.com/office/powerpoint/2010/main" val="66744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8407405-DE30-4BE7-BEFA-1B2BDA329D0A}" type="datetimeFigureOut">
              <a:rPr lang="sk-SK" smtClean="0"/>
              <a:t>2. 6. 2025</a:t>
            </a:fld>
            <a:endParaRPr lang="sk-SK"/>
          </a:p>
        </p:txBody>
      </p:sp>
      <p:sp>
        <p:nvSpPr>
          <p:cNvPr id="5" name="Footer Placeholder 4"/>
          <p:cNvSpPr>
            <a:spLocks noGrp="1"/>
          </p:cNvSpPr>
          <p:nvPr>
            <p:ph type="ftr" sz="quarter" idx="11"/>
          </p:nvPr>
        </p:nvSpPr>
        <p:spPr/>
        <p:txBody>
          <a:bodyPr/>
          <a:lstStyle/>
          <a:p>
            <a:endParaRPr lang="sk-SK"/>
          </a:p>
        </p:txBody>
      </p:sp>
      <p:sp>
        <p:nvSpPr>
          <p:cNvPr id="6" name="Slide Number Placeholder 5"/>
          <p:cNvSpPr>
            <a:spLocks noGrp="1"/>
          </p:cNvSpPr>
          <p:nvPr>
            <p:ph type="sldNum" sz="quarter" idx="12"/>
          </p:nvPr>
        </p:nvSpPr>
        <p:spPr/>
        <p:txBody>
          <a:bodyPr/>
          <a:lstStyle/>
          <a:p>
            <a:fld id="{6D1D1725-B03E-47D9-9201-E2D261E1B81F}" type="slidenum">
              <a:rPr lang="sk-SK" smtClean="0"/>
              <a:t>‹#›</a:t>
            </a:fld>
            <a:endParaRPr lang="sk-SK"/>
          </a:p>
        </p:txBody>
      </p:sp>
    </p:spTree>
    <p:extLst>
      <p:ext uri="{BB962C8B-B14F-4D97-AF65-F5344CB8AC3E}">
        <p14:creationId xmlns:p14="http://schemas.microsoft.com/office/powerpoint/2010/main" val="29412353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8407405-DE30-4BE7-BEFA-1B2BDA329D0A}" type="datetimeFigureOut">
              <a:rPr lang="sk-SK" smtClean="0"/>
              <a:t>2. 6. 2025</a:t>
            </a:fld>
            <a:endParaRPr lang="sk-SK"/>
          </a:p>
        </p:txBody>
      </p:sp>
      <p:sp>
        <p:nvSpPr>
          <p:cNvPr id="5" name="Footer Placeholder 4"/>
          <p:cNvSpPr>
            <a:spLocks noGrp="1"/>
          </p:cNvSpPr>
          <p:nvPr>
            <p:ph type="ftr" sz="quarter" idx="11"/>
          </p:nvPr>
        </p:nvSpPr>
        <p:spPr/>
        <p:txBody>
          <a:bodyPr/>
          <a:lstStyle/>
          <a:p>
            <a:endParaRPr lang="sk-SK"/>
          </a:p>
        </p:txBody>
      </p:sp>
      <p:sp>
        <p:nvSpPr>
          <p:cNvPr id="6" name="Slide Number Placeholder 5"/>
          <p:cNvSpPr>
            <a:spLocks noGrp="1"/>
          </p:cNvSpPr>
          <p:nvPr>
            <p:ph type="sldNum" sz="quarter" idx="12"/>
          </p:nvPr>
        </p:nvSpPr>
        <p:spPr/>
        <p:txBody>
          <a:bodyPr/>
          <a:lstStyle/>
          <a:p>
            <a:fld id="{6D1D1725-B03E-47D9-9201-E2D261E1B81F}" type="slidenum">
              <a:rPr lang="sk-SK" smtClean="0"/>
              <a:t>‹#›</a:t>
            </a:fld>
            <a:endParaRPr lang="sk-SK"/>
          </a:p>
        </p:txBody>
      </p:sp>
    </p:spTree>
    <p:extLst>
      <p:ext uri="{BB962C8B-B14F-4D97-AF65-F5344CB8AC3E}">
        <p14:creationId xmlns:p14="http://schemas.microsoft.com/office/powerpoint/2010/main" val="31491023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38407405-DE30-4BE7-BEFA-1B2BDA329D0A}" type="datetimeFigureOut">
              <a:rPr lang="sk-SK" smtClean="0"/>
              <a:t>2. 6. 2025</a:t>
            </a:fld>
            <a:endParaRPr lang="sk-SK"/>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sk-SK"/>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6D1D1725-B03E-47D9-9201-E2D261E1B81F}" type="slidenum">
              <a:rPr lang="sk-SK" smtClean="0"/>
              <a:t>‹#›</a:t>
            </a:fld>
            <a:endParaRPr lang="sk-SK"/>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0230070"/>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D9A50-DE8C-4752-9722-D43B51A30305}"/>
              </a:ext>
            </a:extLst>
          </p:cNvPr>
          <p:cNvSpPr>
            <a:spLocks noGrp="1"/>
          </p:cNvSpPr>
          <p:nvPr>
            <p:ph type="ctrTitle"/>
          </p:nvPr>
        </p:nvSpPr>
        <p:spPr/>
        <p:txBody>
          <a:bodyPr>
            <a:normAutofit/>
          </a:bodyPr>
          <a:lstStyle/>
          <a:p>
            <a:r>
              <a:rPr lang="sk-SK" sz="6600" dirty="0"/>
              <a:t>Systém pre </a:t>
            </a:r>
            <a:r>
              <a:rPr lang="en-US" sz="6600" dirty="0"/>
              <a:t>a</a:t>
            </a:r>
            <a:r>
              <a:rPr lang="sk-SK" sz="6600" dirty="0" err="1"/>
              <a:t>nalýzu</a:t>
            </a:r>
            <a:r>
              <a:rPr lang="sk-SK" sz="6600" dirty="0"/>
              <a:t> a </a:t>
            </a:r>
            <a:r>
              <a:rPr lang="en-US" sz="6600" dirty="0"/>
              <a:t>p</a:t>
            </a:r>
            <a:r>
              <a:rPr lang="sk-SK" sz="6600" dirty="0" err="1"/>
              <a:t>redikciu</a:t>
            </a:r>
            <a:r>
              <a:rPr lang="sk-SK" sz="6600" dirty="0"/>
              <a:t> </a:t>
            </a:r>
            <a:r>
              <a:rPr lang="en-US" sz="6600" dirty="0"/>
              <a:t>ci</a:t>
            </a:r>
            <a:r>
              <a:rPr lang="sk-SK" sz="6600" dirty="0" err="1"/>
              <a:t>en</a:t>
            </a:r>
            <a:r>
              <a:rPr lang="sk-SK" sz="6600" dirty="0"/>
              <a:t> </a:t>
            </a:r>
            <a:r>
              <a:rPr lang="en-US" sz="6600" dirty="0"/>
              <a:t>n</a:t>
            </a:r>
            <a:r>
              <a:rPr lang="sk-SK" sz="6600" dirty="0" err="1"/>
              <a:t>ehnuteľností</a:t>
            </a:r>
            <a:endParaRPr lang="sk-SK" sz="6600" dirty="0"/>
          </a:p>
        </p:txBody>
      </p:sp>
      <p:sp>
        <p:nvSpPr>
          <p:cNvPr id="3" name="Subtitle 2">
            <a:extLst>
              <a:ext uri="{FF2B5EF4-FFF2-40B4-BE49-F238E27FC236}">
                <a16:creationId xmlns:a16="http://schemas.microsoft.com/office/drawing/2014/main" id="{F535C620-5B73-43E4-8840-EE6466A9CF17}"/>
              </a:ext>
            </a:extLst>
          </p:cNvPr>
          <p:cNvSpPr>
            <a:spLocks noGrp="1"/>
          </p:cNvSpPr>
          <p:nvPr>
            <p:ph type="subTitle" idx="1"/>
          </p:nvPr>
        </p:nvSpPr>
        <p:spPr/>
        <p:txBody>
          <a:bodyPr>
            <a:normAutofit/>
          </a:bodyPr>
          <a:lstStyle/>
          <a:p>
            <a:r>
              <a:rPr lang="en-US" sz="2000" dirty="0" err="1"/>
              <a:t>Jesensk</a:t>
            </a:r>
            <a:r>
              <a:rPr lang="sk-SK" sz="2000" dirty="0"/>
              <a:t>ý adam</a:t>
            </a:r>
          </a:p>
        </p:txBody>
      </p:sp>
    </p:spTree>
    <p:extLst>
      <p:ext uri="{BB962C8B-B14F-4D97-AF65-F5344CB8AC3E}">
        <p14:creationId xmlns:p14="http://schemas.microsoft.com/office/powerpoint/2010/main" val="5384320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C060E-09A8-4F8B-8D1C-0E0EBB374E69}"/>
              </a:ext>
            </a:extLst>
          </p:cNvPr>
          <p:cNvSpPr>
            <a:spLocks noGrp="1"/>
          </p:cNvSpPr>
          <p:nvPr>
            <p:ph type="title"/>
          </p:nvPr>
        </p:nvSpPr>
        <p:spPr/>
        <p:txBody>
          <a:bodyPr/>
          <a:lstStyle/>
          <a:p>
            <a:r>
              <a:rPr lang="sk-SK" dirty="0"/>
              <a:t>Prehľad Projektu a Motivácia</a:t>
            </a:r>
          </a:p>
        </p:txBody>
      </p:sp>
      <p:sp>
        <p:nvSpPr>
          <p:cNvPr id="3" name="Content Placeholder 2">
            <a:extLst>
              <a:ext uri="{FF2B5EF4-FFF2-40B4-BE49-F238E27FC236}">
                <a16:creationId xmlns:a16="http://schemas.microsoft.com/office/drawing/2014/main" id="{047FF9BD-6F5A-467C-962A-E82FEB46D409}"/>
              </a:ext>
            </a:extLst>
          </p:cNvPr>
          <p:cNvSpPr>
            <a:spLocks noGrp="1"/>
          </p:cNvSpPr>
          <p:nvPr>
            <p:ph idx="1"/>
          </p:nvPr>
        </p:nvSpPr>
        <p:spPr/>
        <p:txBody>
          <a:bodyPr/>
          <a:lstStyle/>
          <a:p>
            <a:pPr algn="l">
              <a:buFont typeface="Arial" panose="020B0604020202020204" pitchFamily="34" charset="0"/>
              <a:buChar char="•"/>
            </a:pPr>
            <a:r>
              <a:rPr lang="sk-SK" b="1" i="0" dirty="0">
                <a:solidFill>
                  <a:schemeClr val="tx1"/>
                </a:solidFill>
                <a:effectLst/>
                <a:latin typeface="Google Sans Text"/>
              </a:rPr>
              <a:t>Cieľ:</a:t>
            </a:r>
            <a:r>
              <a:rPr lang="sk-SK" b="0" i="0" dirty="0">
                <a:solidFill>
                  <a:schemeClr val="tx1"/>
                </a:solidFill>
                <a:effectLst/>
                <a:latin typeface="Google Sans Text"/>
              </a:rPr>
              <a:t> Vývoj systému na zber, analýzu a predikciu cien slovenských nehnuteľností (byty: predaj/prenájom).</a:t>
            </a:r>
          </a:p>
          <a:p>
            <a:pPr algn="l">
              <a:buFont typeface="Arial" panose="020B0604020202020204" pitchFamily="34" charset="0"/>
              <a:buChar char="•"/>
            </a:pPr>
            <a:r>
              <a:rPr lang="sk-SK" b="1" i="0" dirty="0">
                <a:solidFill>
                  <a:schemeClr val="tx1"/>
                </a:solidFill>
                <a:effectLst/>
                <a:latin typeface="Google Sans Text"/>
              </a:rPr>
              <a:t>Motivácia:</a:t>
            </a:r>
            <a:r>
              <a:rPr lang="sk-SK" b="0" i="0" dirty="0">
                <a:solidFill>
                  <a:schemeClr val="tx1"/>
                </a:solidFill>
                <a:effectLst/>
                <a:latin typeface="Google Sans Text"/>
              </a:rPr>
              <a:t> Porozumieť trhu, identifikovať kľúčové faktory cien, preskúmať aplikáciu hĺbkového učenia.</a:t>
            </a:r>
          </a:p>
          <a:p>
            <a:pPr algn="l">
              <a:buFont typeface="Arial" panose="020B0604020202020204" pitchFamily="34" charset="0"/>
              <a:buChar char="•"/>
            </a:pPr>
            <a:r>
              <a:rPr lang="sk-SK" b="1" i="0" dirty="0">
                <a:solidFill>
                  <a:schemeClr val="tx1"/>
                </a:solidFill>
                <a:effectLst/>
                <a:latin typeface="Google Sans Text"/>
              </a:rPr>
              <a:t>Fázy projektu:</a:t>
            </a:r>
            <a:endParaRPr lang="sk-SK" b="0" i="0" dirty="0">
              <a:solidFill>
                <a:schemeClr val="tx1"/>
              </a:solidFill>
              <a:effectLst/>
              <a:latin typeface="Google Sans Text"/>
            </a:endParaRPr>
          </a:p>
          <a:p>
            <a:pPr marL="742950" lvl="1" indent="-285750" algn="l">
              <a:buFont typeface="Arial" panose="020B0604020202020204" pitchFamily="34" charset="0"/>
              <a:buChar char="•"/>
            </a:pPr>
            <a:r>
              <a:rPr lang="sk-SK" b="0" i="0" dirty="0">
                <a:solidFill>
                  <a:schemeClr val="tx1"/>
                </a:solidFill>
                <a:effectLst/>
                <a:latin typeface="Google Sans Text"/>
              </a:rPr>
              <a:t>Zber dát (Web </a:t>
            </a:r>
            <a:r>
              <a:rPr lang="sk-SK" b="0" i="0" dirty="0" err="1">
                <a:solidFill>
                  <a:schemeClr val="tx1"/>
                </a:solidFill>
                <a:effectLst/>
                <a:latin typeface="Google Sans Text"/>
              </a:rPr>
              <a:t>Scraping</a:t>
            </a:r>
            <a:r>
              <a:rPr lang="sk-SK" b="0" i="0" dirty="0">
                <a:solidFill>
                  <a:schemeClr val="tx1"/>
                </a:solidFill>
                <a:effectLst/>
                <a:latin typeface="Google Sans Text"/>
              </a:rPr>
              <a:t>)</a:t>
            </a:r>
          </a:p>
          <a:p>
            <a:pPr marL="742950" lvl="1" indent="-285750" algn="l">
              <a:buFont typeface="Arial" panose="020B0604020202020204" pitchFamily="34" charset="0"/>
              <a:buChar char="•"/>
            </a:pPr>
            <a:r>
              <a:rPr lang="sk-SK" b="0" i="0" dirty="0">
                <a:solidFill>
                  <a:schemeClr val="tx1"/>
                </a:solidFill>
                <a:effectLst/>
                <a:latin typeface="Google Sans Text"/>
              </a:rPr>
              <a:t>Spracovanie a Čistenie Dát</a:t>
            </a:r>
          </a:p>
          <a:p>
            <a:pPr marL="742950" lvl="1" indent="-285750" algn="l">
              <a:buFont typeface="Arial" panose="020B0604020202020204" pitchFamily="34" charset="0"/>
              <a:buChar char="•"/>
            </a:pPr>
            <a:r>
              <a:rPr lang="sk-SK" b="0" i="0" dirty="0" err="1">
                <a:solidFill>
                  <a:schemeClr val="tx1"/>
                </a:solidFill>
                <a:effectLst/>
                <a:latin typeface="Google Sans Text"/>
              </a:rPr>
              <a:t>Exploratívna</a:t>
            </a:r>
            <a:r>
              <a:rPr lang="sk-SK" b="0" i="0" dirty="0">
                <a:solidFill>
                  <a:schemeClr val="tx1"/>
                </a:solidFill>
                <a:effectLst/>
                <a:latin typeface="Google Sans Text"/>
              </a:rPr>
              <a:t> Analýza</a:t>
            </a:r>
          </a:p>
          <a:p>
            <a:pPr marL="742950" lvl="1" indent="-285750" algn="l">
              <a:buFont typeface="Arial" panose="020B0604020202020204" pitchFamily="34" charset="0"/>
              <a:buChar char="•"/>
            </a:pPr>
            <a:r>
              <a:rPr lang="sk-SK" b="0" i="0" dirty="0">
                <a:solidFill>
                  <a:schemeClr val="tx1"/>
                </a:solidFill>
                <a:effectLst/>
                <a:latin typeface="Google Sans Text"/>
              </a:rPr>
              <a:t>Modelovanie (Neurónové Siete)</a:t>
            </a:r>
          </a:p>
          <a:p>
            <a:pPr marL="742950" lvl="1" indent="-285750" algn="l">
              <a:buFont typeface="Arial" panose="020B0604020202020204" pitchFamily="34" charset="0"/>
              <a:buChar char="•"/>
            </a:pPr>
            <a:r>
              <a:rPr lang="sk-SK" b="0" i="0" dirty="0">
                <a:solidFill>
                  <a:schemeClr val="tx1"/>
                </a:solidFill>
                <a:effectLst/>
                <a:latin typeface="Google Sans Text"/>
              </a:rPr>
              <a:t>Vyhodnotenie</a:t>
            </a:r>
          </a:p>
          <a:p>
            <a:endParaRPr lang="sk-SK" dirty="0"/>
          </a:p>
        </p:txBody>
      </p:sp>
    </p:spTree>
    <p:extLst>
      <p:ext uri="{BB962C8B-B14F-4D97-AF65-F5344CB8AC3E}">
        <p14:creationId xmlns:p14="http://schemas.microsoft.com/office/powerpoint/2010/main" val="32673096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8109D-067A-4081-8DDF-8C87EE52F081}"/>
              </a:ext>
            </a:extLst>
          </p:cNvPr>
          <p:cNvSpPr>
            <a:spLocks noGrp="1"/>
          </p:cNvSpPr>
          <p:nvPr>
            <p:ph type="title"/>
          </p:nvPr>
        </p:nvSpPr>
        <p:spPr/>
        <p:txBody>
          <a:bodyPr/>
          <a:lstStyle/>
          <a:p>
            <a:r>
              <a:rPr lang="pl-PL" dirty="0"/>
              <a:t>Zber Dát – Architektúra a Proces</a:t>
            </a:r>
            <a:endParaRPr lang="sk-SK" dirty="0"/>
          </a:p>
        </p:txBody>
      </p:sp>
      <p:sp>
        <p:nvSpPr>
          <p:cNvPr id="3" name="Content Placeholder 2">
            <a:extLst>
              <a:ext uri="{FF2B5EF4-FFF2-40B4-BE49-F238E27FC236}">
                <a16:creationId xmlns:a16="http://schemas.microsoft.com/office/drawing/2014/main" id="{A9DBAE70-E0B2-4928-AB84-22A80BB7B844}"/>
              </a:ext>
            </a:extLst>
          </p:cNvPr>
          <p:cNvSpPr>
            <a:spLocks noGrp="1"/>
          </p:cNvSpPr>
          <p:nvPr>
            <p:ph idx="1"/>
          </p:nvPr>
        </p:nvSpPr>
        <p:spPr>
          <a:xfrm>
            <a:off x="1097280" y="1845734"/>
            <a:ext cx="5264896" cy="4023360"/>
          </a:xfrm>
        </p:spPr>
        <p:txBody>
          <a:bodyPr>
            <a:normAutofit lnSpcReduction="10000"/>
          </a:bodyPr>
          <a:lstStyle/>
          <a:p>
            <a:pPr algn="l">
              <a:buFont typeface="Arial" panose="020B0604020202020204" pitchFamily="34" charset="0"/>
              <a:buChar char="•"/>
            </a:pPr>
            <a:r>
              <a:rPr lang="sk-SK" b="1" i="0" dirty="0">
                <a:solidFill>
                  <a:schemeClr val="tx1"/>
                </a:solidFill>
                <a:effectLst/>
                <a:latin typeface="Google Sans Text"/>
              </a:rPr>
              <a:t>Zdroj:</a:t>
            </a:r>
            <a:r>
              <a:rPr lang="sk-SK" b="0" i="0" dirty="0">
                <a:solidFill>
                  <a:schemeClr val="tx1"/>
                </a:solidFill>
                <a:effectLst/>
                <a:latin typeface="Google Sans Text"/>
              </a:rPr>
              <a:t> reality.sk (všetky kraje SR)</a:t>
            </a:r>
          </a:p>
          <a:p>
            <a:pPr algn="l">
              <a:buFont typeface="Arial" panose="020B0604020202020204" pitchFamily="34" charset="0"/>
              <a:buChar char="•"/>
            </a:pPr>
            <a:r>
              <a:rPr lang="sk-SK" b="1" i="0" dirty="0">
                <a:solidFill>
                  <a:schemeClr val="tx1"/>
                </a:solidFill>
                <a:effectLst/>
                <a:latin typeface="Google Sans Text"/>
              </a:rPr>
              <a:t>Technológie:</a:t>
            </a:r>
            <a:r>
              <a:rPr lang="sk-SK" b="0" i="0" dirty="0">
                <a:solidFill>
                  <a:schemeClr val="tx1"/>
                </a:solidFill>
                <a:effectLst/>
                <a:latin typeface="Google Sans Text"/>
              </a:rPr>
              <a:t> </a:t>
            </a:r>
            <a:r>
              <a:rPr lang="sk-SK" b="0" i="0" dirty="0" err="1">
                <a:solidFill>
                  <a:schemeClr val="tx1"/>
                </a:solidFill>
                <a:effectLst/>
                <a:latin typeface="Google Sans Text"/>
              </a:rPr>
              <a:t>Python</a:t>
            </a:r>
            <a:r>
              <a:rPr lang="sk-SK" b="0" i="0" dirty="0">
                <a:solidFill>
                  <a:schemeClr val="tx1"/>
                </a:solidFill>
                <a:effectLst/>
                <a:latin typeface="Google Sans Text"/>
              </a:rPr>
              <a:t> (</a:t>
            </a:r>
            <a:r>
              <a:rPr lang="sk-SK" b="0" i="0" dirty="0" err="1">
                <a:solidFill>
                  <a:schemeClr val="tx1"/>
                </a:solidFill>
                <a:effectLst/>
                <a:latin typeface="Google Sans Text"/>
              </a:rPr>
              <a:t>BeautifulSoup</a:t>
            </a:r>
            <a:r>
              <a:rPr lang="sk-SK" b="0" i="0" dirty="0">
                <a:solidFill>
                  <a:schemeClr val="tx1"/>
                </a:solidFill>
                <a:effectLst/>
                <a:latin typeface="Google Sans Text"/>
              </a:rPr>
              <a:t>, </a:t>
            </a:r>
            <a:r>
              <a:rPr lang="sk-SK" b="0" i="0" dirty="0" err="1">
                <a:solidFill>
                  <a:schemeClr val="tx1"/>
                </a:solidFill>
                <a:effectLst/>
                <a:latin typeface="Google Sans Text"/>
              </a:rPr>
              <a:t>Requests</a:t>
            </a:r>
            <a:r>
              <a:rPr lang="sk-SK" b="0" i="0" dirty="0">
                <a:solidFill>
                  <a:schemeClr val="tx1"/>
                </a:solidFill>
                <a:effectLst/>
                <a:latin typeface="Google Sans Text"/>
              </a:rPr>
              <a:t>), </a:t>
            </a:r>
            <a:r>
              <a:rPr lang="sk-SK" b="0" i="0" dirty="0" err="1">
                <a:solidFill>
                  <a:schemeClr val="tx1"/>
                </a:solidFill>
                <a:effectLst/>
                <a:latin typeface="Google Sans Text"/>
              </a:rPr>
              <a:t>Tor</a:t>
            </a:r>
            <a:r>
              <a:rPr lang="sk-SK" b="0" i="0" dirty="0">
                <a:solidFill>
                  <a:schemeClr val="tx1"/>
                </a:solidFill>
                <a:effectLst/>
                <a:latin typeface="Google Sans Text"/>
              </a:rPr>
              <a:t>, </a:t>
            </a:r>
            <a:r>
              <a:rPr lang="sk-SK" b="0" i="0" dirty="0" err="1">
                <a:solidFill>
                  <a:schemeClr val="tx1"/>
                </a:solidFill>
                <a:effectLst/>
                <a:latin typeface="DM Mono"/>
              </a:rPr>
              <a:t>random_user_agent</a:t>
            </a:r>
            <a:r>
              <a:rPr lang="sk-SK" b="0" i="0" dirty="0">
                <a:solidFill>
                  <a:schemeClr val="tx1"/>
                </a:solidFill>
                <a:effectLst/>
                <a:latin typeface="DM Mono"/>
              </a:rPr>
              <a:t>..</a:t>
            </a:r>
            <a:endParaRPr lang="sk-SK" b="0" i="0" dirty="0">
              <a:solidFill>
                <a:schemeClr val="tx1"/>
              </a:solidFill>
              <a:effectLst/>
              <a:latin typeface="Google Sans Text"/>
            </a:endParaRPr>
          </a:p>
          <a:p>
            <a:pPr algn="l">
              <a:buFont typeface="Arial" panose="020B0604020202020204" pitchFamily="34" charset="0"/>
              <a:buChar char="•"/>
            </a:pPr>
            <a:r>
              <a:rPr lang="sk-SK" b="1" i="0" dirty="0">
                <a:solidFill>
                  <a:schemeClr val="tx1"/>
                </a:solidFill>
                <a:effectLst/>
                <a:latin typeface="Google Sans Text"/>
              </a:rPr>
              <a:t>Dvojfázový </a:t>
            </a:r>
            <a:r>
              <a:rPr lang="sk-SK" b="1" i="0" dirty="0" err="1">
                <a:solidFill>
                  <a:schemeClr val="tx1"/>
                </a:solidFill>
                <a:effectLst/>
                <a:latin typeface="Google Sans Text"/>
              </a:rPr>
              <a:t>Scraping</a:t>
            </a:r>
            <a:r>
              <a:rPr lang="sk-SK" b="1" i="0" dirty="0">
                <a:solidFill>
                  <a:schemeClr val="tx1"/>
                </a:solidFill>
                <a:effectLst/>
                <a:latin typeface="Google Sans Text"/>
              </a:rPr>
              <a:t>:</a:t>
            </a:r>
            <a:endParaRPr lang="sk-SK" b="0" i="0" dirty="0">
              <a:solidFill>
                <a:schemeClr val="tx1"/>
              </a:solidFill>
              <a:effectLst/>
              <a:latin typeface="Google Sans Text"/>
            </a:endParaRPr>
          </a:p>
          <a:p>
            <a:pPr marL="742950" lvl="1" indent="-285750" algn="l">
              <a:buFont typeface="Arial" panose="020B0604020202020204" pitchFamily="34" charset="0"/>
              <a:buChar char="•"/>
            </a:pPr>
            <a:r>
              <a:rPr lang="sk-SK" b="0" i="0" dirty="0">
                <a:solidFill>
                  <a:schemeClr val="tx1"/>
                </a:solidFill>
                <a:effectLst/>
                <a:latin typeface="Google Sans Text"/>
              </a:rPr>
              <a:t>Fáza 1: Zber URL ponúk (paralelne, filtrovanie podľa dátumu)</a:t>
            </a:r>
          </a:p>
          <a:p>
            <a:pPr marL="742950" lvl="1" indent="-285750" algn="l">
              <a:buFont typeface="Arial" panose="020B0604020202020204" pitchFamily="34" charset="0"/>
              <a:buChar char="•"/>
            </a:pPr>
            <a:r>
              <a:rPr lang="sk-SK" b="0" i="0" dirty="0">
                <a:solidFill>
                  <a:schemeClr val="tx1"/>
                </a:solidFill>
                <a:effectLst/>
                <a:latin typeface="Google Sans Text"/>
              </a:rPr>
              <a:t>Fáza 2: Extrakcia detailov z URL (JSON-LD, HTML)</a:t>
            </a:r>
          </a:p>
          <a:p>
            <a:pPr algn="l">
              <a:buFont typeface="Arial" panose="020B0604020202020204" pitchFamily="34" charset="0"/>
              <a:buChar char="•"/>
            </a:pPr>
            <a:r>
              <a:rPr lang="sk-SK" b="1" i="0" dirty="0">
                <a:solidFill>
                  <a:schemeClr val="tx1"/>
                </a:solidFill>
                <a:effectLst/>
                <a:latin typeface="Google Sans Text"/>
              </a:rPr>
              <a:t>Kľúčové dáta:</a:t>
            </a:r>
            <a:r>
              <a:rPr lang="sk-SK" b="0" i="0" dirty="0">
                <a:solidFill>
                  <a:schemeClr val="tx1"/>
                </a:solidFill>
                <a:effectLst/>
                <a:latin typeface="Google Sans Text"/>
              </a:rPr>
              <a:t> Lokalita, cena, rozloha, popis, dátumy, vybavenie, GPS</a:t>
            </a:r>
          </a:p>
          <a:p>
            <a:pPr algn="l">
              <a:buFont typeface="Arial" panose="020B0604020202020204" pitchFamily="34" charset="0"/>
              <a:buChar char="•"/>
            </a:pPr>
            <a:r>
              <a:rPr lang="sk-SK" b="1" i="0" dirty="0">
                <a:solidFill>
                  <a:schemeClr val="tx1"/>
                </a:solidFill>
                <a:effectLst/>
                <a:latin typeface="Google Sans Text"/>
              </a:rPr>
              <a:t>Ukladanie:</a:t>
            </a:r>
            <a:r>
              <a:rPr lang="sk-SK" b="0" i="0" dirty="0">
                <a:solidFill>
                  <a:schemeClr val="tx1"/>
                </a:solidFill>
                <a:effectLst/>
                <a:latin typeface="Google Sans Text"/>
              </a:rPr>
              <a:t> CSV (regionálne) / </a:t>
            </a:r>
            <a:r>
              <a:rPr lang="sk-SK" b="0" i="0" dirty="0" err="1">
                <a:solidFill>
                  <a:schemeClr val="tx1"/>
                </a:solidFill>
                <a:effectLst/>
                <a:latin typeface="Google Sans Text"/>
              </a:rPr>
              <a:t>PostgreSQL</a:t>
            </a:r>
            <a:r>
              <a:rPr lang="sk-SK" b="0" i="0" dirty="0">
                <a:solidFill>
                  <a:schemeClr val="tx1"/>
                </a:solidFill>
                <a:effectLst/>
                <a:latin typeface="Google Sans Text"/>
              </a:rPr>
              <a:t> (JSONB)</a:t>
            </a:r>
          </a:p>
          <a:p>
            <a:pPr algn="l">
              <a:buFont typeface="Arial" panose="020B0604020202020204" pitchFamily="34" charset="0"/>
              <a:buChar char="•"/>
            </a:pPr>
            <a:r>
              <a:rPr lang="sk-SK" b="1" i="0" dirty="0">
                <a:solidFill>
                  <a:schemeClr val="tx1"/>
                </a:solidFill>
                <a:effectLst/>
                <a:latin typeface="Google Sans Text"/>
              </a:rPr>
              <a:t>Výsledok:</a:t>
            </a:r>
            <a:r>
              <a:rPr lang="sk-SK" b="0" i="0" dirty="0">
                <a:solidFill>
                  <a:schemeClr val="tx1"/>
                </a:solidFill>
                <a:effectLst/>
                <a:latin typeface="Google Sans Text"/>
              </a:rPr>
              <a:t> ~55 000 surových záznamov</a:t>
            </a:r>
          </a:p>
          <a:p>
            <a:pPr marL="0" indent="0">
              <a:buNone/>
            </a:pPr>
            <a:endParaRPr lang="sk-SK" dirty="0"/>
          </a:p>
        </p:txBody>
      </p:sp>
      <p:pic>
        <p:nvPicPr>
          <p:cNvPr id="5" name="Picture 4">
            <a:extLst>
              <a:ext uri="{FF2B5EF4-FFF2-40B4-BE49-F238E27FC236}">
                <a16:creationId xmlns:a16="http://schemas.microsoft.com/office/drawing/2014/main" id="{F2850537-B5C2-4048-B66D-2A054DAF85EF}"/>
              </a:ext>
            </a:extLst>
          </p:cNvPr>
          <p:cNvPicPr>
            <a:picLocks noChangeAspect="1"/>
          </p:cNvPicPr>
          <p:nvPr/>
        </p:nvPicPr>
        <p:blipFill>
          <a:blip r:embed="rId3"/>
          <a:stretch>
            <a:fillRect/>
          </a:stretch>
        </p:blipFill>
        <p:spPr>
          <a:xfrm>
            <a:off x="6362176" y="1615040"/>
            <a:ext cx="5613359" cy="4484747"/>
          </a:xfrm>
          <a:prstGeom prst="rect">
            <a:avLst/>
          </a:prstGeom>
        </p:spPr>
      </p:pic>
      <p:pic>
        <p:nvPicPr>
          <p:cNvPr id="7" name="Picture 6">
            <a:extLst>
              <a:ext uri="{FF2B5EF4-FFF2-40B4-BE49-F238E27FC236}">
                <a16:creationId xmlns:a16="http://schemas.microsoft.com/office/drawing/2014/main" id="{EF51638B-369B-4F81-AE0C-5180AB5AD620}"/>
              </a:ext>
            </a:extLst>
          </p:cNvPr>
          <p:cNvPicPr>
            <a:picLocks noChangeAspect="1"/>
          </p:cNvPicPr>
          <p:nvPr/>
        </p:nvPicPr>
        <p:blipFill>
          <a:blip r:embed="rId4"/>
          <a:stretch>
            <a:fillRect/>
          </a:stretch>
        </p:blipFill>
        <p:spPr>
          <a:xfrm>
            <a:off x="9985607" y="286603"/>
            <a:ext cx="2819929" cy="4359522"/>
          </a:xfrm>
          <a:prstGeom prst="rect">
            <a:avLst/>
          </a:prstGeom>
        </p:spPr>
      </p:pic>
    </p:spTree>
    <p:extLst>
      <p:ext uri="{BB962C8B-B14F-4D97-AF65-F5344CB8AC3E}">
        <p14:creationId xmlns:p14="http://schemas.microsoft.com/office/powerpoint/2010/main" val="22766353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2242D-91F3-4AD2-9781-C14BF3B030CA}"/>
              </a:ext>
            </a:extLst>
          </p:cNvPr>
          <p:cNvSpPr>
            <a:spLocks noGrp="1"/>
          </p:cNvSpPr>
          <p:nvPr>
            <p:ph type="title"/>
          </p:nvPr>
        </p:nvSpPr>
        <p:spPr/>
        <p:txBody>
          <a:bodyPr/>
          <a:lstStyle/>
          <a:p>
            <a:r>
              <a:rPr lang="sk-SK" dirty="0"/>
              <a:t>Spracovanie a Čistenie Dát</a:t>
            </a:r>
          </a:p>
        </p:txBody>
      </p:sp>
      <p:sp>
        <p:nvSpPr>
          <p:cNvPr id="3" name="Content Placeholder 2">
            <a:extLst>
              <a:ext uri="{FF2B5EF4-FFF2-40B4-BE49-F238E27FC236}">
                <a16:creationId xmlns:a16="http://schemas.microsoft.com/office/drawing/2014/main" id="{A928AAF7-FB4B-4F7C-A006-C95A60A20832}"/>
              </a:ext>
            </a:extLst>
          </p:cNvPr>
          <p:cNvSpPr>
            <a:spLocks noGrp="1"/>
          </p:cNvSpPr>
          <p:nvPr>
            <p:ph idx="1"/>
          </p:nvPr>
        </p:nvSpPr>
        <p:spPr/>
        <p:txBody>
          <a:bodyPr/>
          <a:lstStyle/>
          <a:p>
            <a:pPr algn="l">
              <a:buFont typeface="Arial" panose="020B0604020202020204" pitchFamily="34" charset="0"/>
              <a:buChar char="•"/>
            </a:pPr>
            <a:r>
              <a:rPr lang="sk-SK" b="1" i="0" dirty="0">
                <a:solidFill>
                  <a:schemeClr val="tx1"/>
                </a:solidFill>
                <a:effectLst/>
                <a:latin typeface="Google Sans Text"/>
              </a:rPr>
              <a:t>Hlavné kroky:</a:t>
            </a:r>
            <a:endParaRPr lang="sk-SK" b="0" i="0" dirty="0">
              <a:solidFill>
                <a:schemeClr val="tx1"/>
              </a:solidFill>
              <a:effectLst/>
              <a:latin typeface="Google Sans Text"/>
            </a:endParaRPr>
          </a:p>
          <a:p>
            <a:pPr marL="742950" lvl="1" indent="-285750" algn="l">
              <a:buFont typeface="Arial" panose="020B0604020202020204" pitchFamily="34" charset="0"/>
              <a:buChar char="•"/>
            </a:pPr>
            <a:r>
              <a:rPr lang="sk-SK" b="0" i="0" dirty="0">
                <a:solidFill>
                  <a:schemeClr val="tx1"/>
                </a:solidFill>
                <a:effectLst/>
                <a:latin typeface="Google Sans Text"/>
              </a:rPr>
              <a:t>Segmentácia dát (</a:t>
            </a:r>
            <a:r>
              <a:rPr lang="sk-SK" b="0" i="0" dirty="0" err="1">
                <a:solidFill>
                  <a:schemeClr val="tx1"/>
                </a:solidFill>
                <a:effectLst/>
                <a:latin typeface="Google Sans Text"/>
              </a:rPr>
              <a:t>Byty_Predaj</a:t>
            </a:r>
            <a:r>
              <a:rPr lang="sk-SK" b="0" i="0" dirty="0">
                <a:solidFill>
                  <a:schemeClr val="tx1"/>
                </a:solidFill>
                <a:effectLst/>
                <a:latin typeface="Google Sans Text"/>
              </a:rPr>
              <a:t>, </a:t>
            </a:r>
            <a:r>
              <a:rPr lang="sk-SK" b="0" i="0" dirty="0" err="1">
                <a:solidFill>
                  <a:schemeClr val="tx1"/>
                </a:solidFill>
                <a:effectLst/>
                <a:latin typeface="Google Sans Text"/>
              </a:rPr>
              <a:t>Byty_Prenájom</a:t>
            </a:r>
            <a:r>
              <a:rPr lang="sk-SK" b="0" i="0" dirty="0">
                <a:solidFill>
                  <a:schemeClr val="tx1"/>
                </a:solidFill>
                <a:effectLst/>
                <a:latin typeface="Google Sans Text"/>
              </a:rPr>
              <a:t>, </a:t>
            </a:r>
            <a:r>
              <a:rPr lang="sk-SK" b="0" i="0" dirty="0" err="1">
                <a:solidFill>
                  <a:schemeClr val="tx1"/>
                </a:solidFill>
                <a:effectLst/>
                <a:latin typeface="Google Sans Text"/>
              </a:rPr>
              <a:t>Byty_Combined</a:t>
            </a:r>
            <a:r>
              <a:rPr lang="sk-SK" b="0" i="0" dirty="0">
                <a:solidFill>
                  <a:schemeClr val="tx1"/>
                </a:solidFill>
                <a:effectLst/>
                <a:latin typeface="Google Sans Text"/>
              </a:rPr>
              <a:t>)</a:t>
            </a:r>
          </a:p>
          <a:p>
            <a:pPr marL="742950" lvl="1" indent="-285750" algn="l">
              <a:buFont typeface="Arial" panose="020B0604020202020204" pitchFamily="34" charset="0"/>
              <a:buChar char="•"/>
            </a:pPr>
            <a:r>
              <a:rPr lang="sk-SK" b="0" i="0" dirty="0">
                <a:solidFill>
                  <a:schemeClr val="tx1"/>
                </a:solidFill>
                <a:effectLst/>
                <a:latin typeface="Google Sans Text"/>
              </a:rPr>
              <a:t>Redukcia </a:t>
            </a:r>
            <a:r>
              <a:rPr lang="sk-SK" b="0" i="0" dirty="0" err="1">
                <a:solidFill>
                  <a:schemeClr val="tx1"/>
                </a:solidFill>
                <a:effectLst/>
                <a:latin typeface="Google Sans Text"/>
              </a:rPr>
              <a:t>dimenzionality</a:t>
            </a:r>
            <a:r>
              <a:rPr lang="sk-SK" b="0" i="0" dirty="0">
                <a:solidFill>
                  <a:schemeClr val="tx1"/>
                </a:solidFill>
                <a:effectLst/>
                <a:latin typeface="Google Sans Text"/>
              </a:rPr>
              <a:t> (z ~90 na ~38+ stĺpcov)</a:t>
            </a:r>
          </a:p>
          <a:p>
            <a:pPr marL="742950" lvl="1" indent="-285750" algn="l">
              <a:buFont typeface="Arial" panose="020B0604020202020204" pitchFamily="34" charset="0"/>
              <a:buChar char="•"/>
            </a:pPr>
            <a:r>
              <a:rPr lang="sk-SK" b="0" i="0" dirty="0">
                <a:solidFill>
                  <a:schemeClr val="tx1"/>
                </a:solidFill>
                <a:effectLst/>
                <a:latin typeface="Google Sans Text"/>
              </a:rPr>
              <a:t>Filtrovanie (neplatné ceny/rozlohy), spracovanie </a:t>
            </a:r>
            <a:r>
              <a:rPr lang="sk-SK" b="0" i="0" dirty="0" err="1">
                <a:solidFill>
                  <a:schemeClr val="tx1"/>
                </a:solidFill>
                <a:effectLst/>
                <a:latin typeface="Google Sans Text"/>
              </a:rPr>
              <a:t>NaN</a:t>
            </a:r>
            <a:endParaRPr lang="sk-SK" b="0" i="0" dirty="0">
              <a:solidFill>
                <a:schemeClr val="tx1"/>
              </a:solidFill>
              <a:effectLst/>
              <a:latin typeface="Google Sans Text"/>
            </a:endParaRPr>
          </a:p>
          <a:p>
            <a:pPr marL="742950" lvl="1" indent="-285750" algn="l">
              <a:buFont typeface="Arial" panose="020B0604020202020204" pitchFamily="34" charset="0"/>
              <a:buChar char="•"/>
            </a:pPr>
            <a:r>
              <a:rPr lang="sk-SK" b="0" i="0" dirty="0">
                <a:solidFill>
                  <a:schemeClr val="tx1"/>
                </a:solidFill>
                <a:effectLst/>
                <a:latin typeface="Google Sans Text"/>
              </a:rPr>
              <a:t>Odstránenie </a:t>
            </a:r>
            <a:r>
              <a:rPr lang="sk-SK" b="0" i="0" dirty="0" err="1">
                <a:solidFill>
                  <a:schemeClr val="tx1"/>
                </a:solidFill>
                <a:effectLst/>
                <a:latin typeface="Google Sans Text"/>
              </a:rPr>
              <a:t>outlierov</a:t>
            </a:r>
            <a:r>
              <a:rPr lang="sk-SK" b="0" i="0" dirty="0">
                <a:solidFill>
                  <a:schemeClr val="tx1"/>
                </a:solidFill>
                <a:effectLst/>
                <a:latin typeface="Google Sans Text"/>
              </a:rPr>
              <a:t> (Z-</a:t>
            </a:r>
            <a:r>
              <a:rPr lang="sk-SK" b="0" i="0" dirty="0" err="1">
                <a:solidFill>
                  <a:schemeClr val="tx1"/>
                </a:solidFill>
                <a:effectLst/>
                <a:latin typeface="Google Sans Text"/>
              </a:rPr>
              <a:t>score</a:t>
            </a:r>
            <a:r>
              <a:rPr lang="sk-SK" b="0" i="0" dirty="0">
                <a:solidFill>
                  <a:schemeClr val="tx1"/>
                </a:solidFill>
                <a:effectLst/>
                <a:latin typeface="Google Sans Text"/>
              </a:rPr>
              <a:t> pre cenu a rozlohu(</a:t>
            </a:r>
            <a:r>
              <a:rPr lang="sk-SK" sz="1600" spc="-150" dirty="0">
                <a:effectLst/>
                <a:latin typeface="Courier New" panose="02070309020205020404" pitchFamily="49" charset="0"/>
                <a:ea typeface="Times New Roman" panose="02020603050405020304" pitchFamily="18" charset="0"/>
              </a:rPr>
              <a:t>(hodnota - priemer) / štandardná odchýlka</a:t>
            </a:r>
            <a:r>
              <a:rPr lang="sk-SK" b="0" i="0" dirty="0">
                <a:solidFill>
                  <a:schemeClr val="tx1"/>
                </a:solidFill>
                <a:effectLst/>
                <a:latin typeface="Google Sans Text"/>
              </a:rPr>
              <a:t>))</a:t>
            </a:r>
          </a:p>
          <a:p>
            <a:pPr marL="742950" lvl="1" indent="-285750" algn="l">
              <a:buFont typeface="Arial" panose="020B0604020202020204" pitchFamily="34" charset="0"/>
              <a:buChar char="•"/>
            </a:pPr>
            <a:r>
              <a:rPr lang="sk-SK" b="1" i="0" dirty="0">
                <a:solidFill>
                  <a:schemeClr val="tx1"/>
                </a:solidFill>
                <a:effectLst/>
                <a:latin typeface="Google Sans Text"/>
              </a:rPr>
              <a:t>Feature </a:t>
            </a:r>
            <a:r>
              <a:rPr lang="sk-SK" b="1" i="0" dirty="0" err="1">
                <a:solidFill>
                  <a:schemeClr val="tx1"/>
                </a:solidFill>
                <a:effectLst/>
                <a:latin typeface="Google Sans Text"/>
              </a:rPr>
              <a:t>Engineering</a:t>
            </a:r>
            <a:r>
              <a:rPr lang="sk-SK" b="1" i="0" dirty="0">
                <a:solidFill>
                  <a:schemeClr val="tx1"/>
                </a:solidFill>
                <a:effectLst/>
                <a:latin typeface="Google Sans Text"/>
              </a:rPr>
              <a:t>:</a:t>
            </a:r>
            <a:endParaRPr lang="sk-SK" b="0" i="0" dirty="0">
              <a:solidFill>
                <a:schemeClr val="tx1"/>
              </a:solidFill>
              <a:effectLst/>
              <a:latin typeface="Google Sans Text"/>
            </a:endParaRPr>
          </a:p>
          <a:p>
            <a:pPr marL="1143000" lvl="2" indent="-228600" algn="l">
              <a:buFont typeface="Arial" panose="020B0604020202020204" pitchFamily="34" charset="0"/>
              <a:buChar char="•"/>
            </a:pPr>
            <a:r>
              <a:rPr lang="sk-SK" b="0" i="0" dirty="0">
                <a:solidFill>
                  <a:schemeClr val="tx1"/>
                </a:solidFill>
                <a:effectLst/>
                <a:latin typeface="Google Sans Text"/>
              </a:rPr>
              <a:t>Časové príznaky (napr. </a:t>
            </a:r>
            <a:r>
              <a:rPr lang="sk-SK" b="0" i="0" dirty="0" err="1">
                <a:solidFill>
                  <a:schemeClr val="tx1"/>
                </a:solidFill>
                <a:effectLst/>
                <a:latin typeface="DM Mono"/>
              </a:rPr>
              <a:t>days_since_publication</a:t>
            </a:r>
            <a:r>
              <a:rPr lang="sk-SK" b="0" i="0" dirty="0">
                <a:solidFill>
                  <a:schemeClr val="tx1"/>
                </a:solidFill>
                <a:effectLst/>
                <a:latin typeface="Google Sans Text"/>
              </a:rPr>
              <a:t>)</a:t>
            </a:r>
          </a:p>
          <a:p>
            <a:pPr marL="1143000" lvl="2" indent="-228600" algn="l">
              <a:buFont typeface="Arial" panose="020B0604020202020204" pitchFamily="34" charset="0"/>
              <a:buChar char="•"/>
            </a:pPr>
            <a:r>
              <a:rPr lang="sk-SK" b="0" i="0" dirty="0">
                <a:solidFill>
                  <a:schemeClr val="tx1"/>
                </a:solidFill>
                <a:effectLst/>
                <a:latin typeface="Google Sans Text"/>
              </a:rPr>
              <a:t>Binárne príznaky (</a:t>
            </a:r>
            <a:r>
              <a:rPr lang="sk-SK" b="0" i="0" dirty="0">
                <a:solidFill>
                  <a:schemeClr val="tx1"/>
                </a:solidFill>
                <a:effectLst/>
                <a:latin typeface="DM Mono"/>
              </a:rPr>
              <a:t>Vybavenie_*</a:t>
            </a:r>
            <a:r>
              <a:rPr lang="sk-SK" b="0" i="0" dirty="0">
                <a:solidFill>
                  <a:schemeClr val="tx1"/>
                </a:solidFill>
                <a:effectLst/>
                <a:latin typeface="Google Sans Text"/>
              </a:rPr>
              <a:t>)</a:t>
            </a:r>
          </a:p>
          <a:p>
            <a:pPr marL="1508760" lvl="4" indent="-228600">
              <a:buFont typeface="Arial" panose="020B0604020202020204" pitchFamily="34" charset="0"/>
              <a:buChar char="•"/>
            </a:pPr>
            <a:r>
              <a:rPr lang="sk-SK" b="0" i="0" dirty="0">
                <a:solidFill>
                  <a:schemeClr val="tx1"/>
                </a:solidFill>
                <a:effectLst/>
                <a:latin typeface="Google Sans Text"/>
              </a:rPr>
              <a:t>Sémantické príznaky (</a:t>
            </a:r>
            <a:r>
              <a:rPr lang="sk-SK" b="0" i="0" dirty="0" err="1">
                <a:solidFill>
                  <a:schemeClr val="tx1"/>
                </a:solidFill>
                <a:effectLst/>
                <a:latin typeface="DM Mono"/>
              </a:rPr>
              <a:t>room_count</a:t>
            </a:r>
            <a:r>
              <a:rPr lang="sk-SK" b="0" i="0" dirty="0">
                <a:solidFill>
                  <a:schemeClr val="tx1"/>
                </a:solidFill>
                <a:effectLst/>
                <a:latin typeface="Google Sans Text"/>
              </a:rPr>
              <a:t>, </a:t>
            </a:r>
            <a:r>
              <a:rPr lang="sk-SK" b="0" i="0" dirty="0" err="1">
                <a:solidFill>
                  <a:schemeClr val="tx1"/>
                </a:solidFill>
                <a:effectLst/>
                <a:latin typeface="DM Mono"/>
              </a:rPr>
              <a:t>condition_score</a:t>
            </a:r>
            <a:r>
              <a:rPr lang="sk-SK" b="0" i="0" dirty="0">
                <a:solidFill>
                  <a:schemeClr val="tx1"/>
                </a:solidFill>
                <a:effectLst/>
                <a:latin typeface="Google Sans Text"/>
              </a:rPr>
              <a:t>)</a:t>
            </a:r>
          </a:p>
          <a:p>
            <a:pPr marL="1143000" lvl="2" indent="-228600" algn="l">
              <a:buFont typeface="Arial" panose="020B0604020202020204" pitchFamily="34" charset="0"/>
              <a:buChar char="•"/>
            </a:pPr>
            <a:r>
              <a:rPr lang="sk-SK" b="0" i="0" dirty="0">
                <a:solidFill>
                  <a:schemeClr val="tx1"/>
                </a:solidFill>
                <a:effectLst/>
                <a:latin typeface="Google Sans Text"/>
              </a:rPr>
              <a:t>Binárny príznak </a:t>
            </a:r>
            <a:r>
              <a:rPr lang="sk-SK" b="0" i="0" dirty="0" err="1">
                <a:solidFill>
                  <a:schemeClr val="tx1"/>
                </a:solidFill>
                <a:effectLst/>
                <a:latin typeface="DM Mono"/>
              </a:rPr>
              <a:t>is_for_sale</a:t>
            </a:r>
            <a:r>
              <a:rPr lang="sk-SK" b="0" i="0" dirty="0">
                <a:solidFill>
                  <a:schemeClr val="tx1"/>
                </a:solidFill>
                <a:effectLst/>
                <a:latin typeface="Google Sans Text"/>
              </a:rPr>
              <a:t> (1=predaj, 0=prenájom)</a:t>
            </a:r>
          </a:p>
          <a:p>
            <a:r>
              <a:rPr lang="sk-SK" sz="1400" spc="-150" dirty="0" err="1">
                <a:effectLst/>
                <a:latin typeface="Consolas" panose="020B0609020204030204" pitchFamily="49" charset="0"/>
                <a:ea typeface="Cambria" panose="02040503050406030204" pitchFamily="18" charset="0"/>
                <a:cs typeface="Times New Roman" panose="02020603050405020304" pitchFamily="18" charset="0"/>
              </a:rPr>
              <a:t>Byty_Predaj</a:t>
            </a:r>
            <a:r>
              <a:rPr lang="sk-SK" sz="1600" spc="-150" dirty="0">
                <a:effectLst/>
                <a:latin typeface="Cambria" panose="02040503050406030204" pitchFamily="18" charset="0"/>
                <a:ea typeface="Cambria" panose="02040503050406030204" pitchFamily="18" charset="0"/>
                <a:cs typeface="Times New Roman" panose="02020603050405020304" pitchFamily="18" charset="0"/>
              </a:rPr>
              <a:t>: 10 198 záznamov - celkové zníženie o 14.85%</a:t>
            </a:r>
          </a:p>
          <a:p>
            <a:r>
              <a:rPr lang="sk-SK" sz="1600" spc="-150" dirty="0">
                <a:effectLst/>
                <a:latin typeface="Cambria" panose="02040503050406030204" pitchFamily="18" charset="0"/>
                <a:ea typeface="Cambria" panose="02040503050406030204" pitchFamily="18" charset="0"/>
                <a:cs typeface="Times New Roman" panose="02020603050405020304" pitchFamily="18" charset="0"/>
              </a:rPr>
              <a:t>Segment </a:t>
            </a:r>
            <a:r>
              <a:rPr lang="sk-SK" sz="1600" spc="-150" dirty="0" err="1">
                <a:effectLst/>
                <a:latin typeface="Cambria" panose="02040503050406030204" pitchFamily="18" charset="0"/>
                <a:ea typeface="Cambria" panose="02040503050406030204" pitchFamily="18" charset="0"/>
                <a:cs typeface="Times New Roman" panose="02020603050405020304" pitchFamily="18" charset="0"/>
              </a:rPr>
              <a:t>Byty_Prenajom</a:t>
            </a:r>
            <a:r>
              <a:rPr lang="sk-SK" sz="1600" spc="-150" dirty="0">
                <a:effectLst/>
                <a:latin typeface="Cambria" panose="02040503050406030204" pitchFamily="18" charset="0"/>
                <a:ea typeface="Cambria" panose="02040503050406030204" pitchFamily="18" charset="0"/>
                <a:cs typeface="Times New Roman" panose="02020603050405020304" pitchFamily="18" charset="0"/>
              </a:rPr>
              <a:t>: 4 188 záznamov - celkové zníženie o 7.59%  </a:t>
            </a:r>
            <a:endParaRPr lang="sk-SK" sz="1600" spc="-150" dirty="0"/>
          </a:p>
        </p:txBody>
      </p:sp>
      <p:pic>
        <p:nvPicPr>
          <p:cNvPr id="5" name="Picture 4">
            <a:extLst>
              <a:ext uri="{FF2B5EF4-FFF2-40B4-BE49-F238E27FC236}">
                <a16:creationId xmlns:a16="http://schemas.microsoft.com/office/drawing/2014/main" id="{DDB4A31A-72F5-49F7-8472-77BD9D883CA8}"/>
              </a:ext>
            </a:extLst>
          </p:cNvPr>
          <p:cNvPicPr>
            <a:picLocks noChangeAspect="1"/>
          </p:cNvPicPr>
          <p:nvPr/>
        </p:nvPicPr>
        <p:blipFill>
          <a:blip r:embed="rId3"/>
          <a:stretch>
            <a:fillRect/>
          </a:stretch>
        </p:blipFill>
        <p:spPr>
          <a:xfrm>
            <a:off x="8798689" y="4167225"/>
            <a:ext cx="3165292" cy="864529"/>
          </a:xfrm>
          <a:prstGeom prst="rect">
            <a:avLst/>
          </a:prstGeom>
        </p:spPr>
      </p:pic>
      <p:pic>
        <p:nvPicPr>
          <p:cNvPr id="7" name="Picture 6">
            <a:extLst>
              <a:ext uri="{FF2B5EF4-FFF2-40B4-BE49-F238E27FC236}">
                <a16:creationId xmlns:a16="http://schemas.microsoft.com/office/drawing/2014/main" id="{312B3BFE-FB7B-4991-8DAD-41F92DCEF059}"/>
              </a:ext>
            </a:extLst>
          </p:cNvPr>
          <p:cNvPicPr>
            <a:picLocks noChangeAspect="1"/>
          </p:cNvPicPr>
          <p:nvPr/>
        </p:nvPicPr>
        <p:blipFill>
          <a:blip r:embed="rId4"/>
          <a:stretch>
            <a:fillRect/>
          </a:stretch>
        </p:blipFill>
        <p:spPr>
          <a:xfrm>
            <a:off x="8798689" y="5140128"/>
            <a:ext cx="3165293" cy="604606"/>
          </a:xfrm>
          <a:prstGeom prst="rect">
            <a:avLst/>
          </a:prstGeom>
        </p:spPr>
      </p:pic>
    </p:spTree>
    <p:extLst>
      <p:ext uri="{BB962C8B-B14F-4D97-AF65-F5344CB8AC3E}">
        <p14:creationId xmlns:p14="http://schemas.microsoft.com/office/powerpoint/2010/main" val="11330838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601AB-D6A8-43BA-8693-7D47B9989D56}"/>
              </a:ext>
            </a:extLst>
          </p:cNvPr>
          <p:cNvSpPr>
            <a:spLocks noGrp="1"/>
          </p:cNvSpPr>
          <p:nvPr>
            <p:ph type="title"/>
          </p:nvPr>
        </p:nvSpPr>
        <p:spPr/>
        <p:txBody>
          <a:bodyPr>
            <a:normAutofit/>
          </a:bodyPr>
          <a:lstStyle/>
          <a:p>
            <a:r>
              <a:rPr lang="sk-SK" sz="4000" dirty="0" err="1"/>
              <a:t>Exploratívna</a:t>
            </a:r>
            <a:r>
              <a:rPr lang="sk-SK" sz="4000" dirty="0"/>
              <a:t> Analýza Dát (EDA) </a:t>
            </a:r>
          </a:p>
        </p:txBody>
      </p:sp>
      <p:sp>
        <p:nvSpPr>
          <p:cNvPr id="3" name="Content Placeholder 2">
            <a:extLst>
              <a:ext uri="{FF2B5EF4-FFF2-40B4-BE49-F238E27FC236}">
                <a16:creationId xmlns:a16="http://schemas.microsoft.com/office/drawing/2014/main" id="{530368CE-8586-4931-9ED2-6FDD4173B6DB}"/>
              </a:ext>
            </a:extLst>
          </p:cNvPr>
          <p:cNvSpPr>
            <a:spLocks noGrp="1"/>
          </p:cNvSpPr>
          <p:nvPr>
            <p:ph idx="1"/>
          </p:nvPr>
        </p:nvSpPr>
        <p:spPr>
          <a:xfrm>
            <a:off x="1097280" y="1845734"/>
            <a:ext cx="10058400" cy="1902608"/>
          </a:xfrm>
        </p:spPr>
        <p:txBody>
          <a:bodyPr>
            <a:normAutofit fontScale="92500" lnSpcReduction="10000"/>
          </a:bodyPr>
          <a:lstStyle/>
          <a:p>
            <a:pPr algn="l">
              <a:buFont typeface="Arial" panose="020B0604020202020204" pitchFamily="34" charset="0"/>
              <a:buChar char="•"/>
            </a:pPr>
            <a:r>
              <a:rPr lang="sk-SK" sz="1900" b="1" i="0" dirty="0">
                <a:solidFill>
                  <a:schemeClr val="tx1"/>
                </a:solidFill>
                <a:effectLst/>
                <a:latin typeface="Google Sans Text"/>
              </a:rPr>
              <a:t>Zistenia:</a:t>
            </a:r>
            <a:endParaRPr lang="sk-SK" sz="1900" b="0" i="0" dirty="0">
              <a:solidFill>
                <a:schemeClr val="tx1"/>
              </a:solidFill>
              <a:effectLst/>
              <a:latin typeface="Google Sans Text"/>
            </a:endParaRPr>
          </a:p>
          <a:p>
            <a:pPr marL="742950" lvl="1" indent="-285750" algn="l">
              <a:buFont typeface="Arial" panose="020B0604020202020204" pitchFamily="34" charset="0"/>
              <a:buChar char="•"/>
            </a:pPr>
            <a:r>
              <a:rPr lang="sk-SK" sz="1700" b="0" i="0" dirty="0">
                <a:solidFill>
                  <a:schemeClr val="tx1"/>
                </a:solidFill>
                <a:effectLst/>
                <a:latin typeface="Google Sans Text"/>
              </a:rPr>
              <a:t>Ceny/rozlohy: Vychýlené distribúcie, </a:t>
            </a:r>
            <a:r>
              <a:rPr lang="sk-SK" sz="1700" b="0" i="0" dirty="0" err="1">
                <a:solidFill>
                  <a:schemeClr val="tx1"/>
                </a:solidFill>
                <a:effectLst/>
                <a:latin typeface="Google Sans Text"/>
              </a:rPr>
              <a:t>outliery</a:t>
            </a:r>
            <a:r>
              <a:rPr lang="sk-SK" sz="1700" b="0" i="0" dirty="0">
                <a:solidFill>
                  <a:schemeClr val="tx1"/>
                </a:solidFill>
                <a:effectLst/>
                <a:latin typeface="Google Sans Text"/>
              </a:rPr>
              <a:t>.</a:t>
            </a:r>
          </a:p>
          <a:p>
            <a:pPr marL="742950" lvl="1" indent="-285750" algn="l">
              <a:buFont typeface="Arial" panose="020B0604020202020204" pitchFamily="34" charset="0"/>
              <a:buChar char="•"/>
            </a:pPr>
            <a:r>
              <a:rPr lang="sk-SK" sz="1700" b="0" i="0" dirty="0" err="1">
                <a:solidFill>
                  <a:schemeClr val="tx1"/>
                </a:solidFill>
                <a:effectLst/>
                <a:latin typeface="DM Mono"/>
              </a:rPr>
              <a:t>Byty_Combined</a:t>
            </a:r>
            <a:r>
              <a:rPr lang="sk-SK" sz="1700" b="0" i="0" dirty="0">
                <a:solidFill>
                  <a:schemeClr val="tx1"/>
                </a:solidFill>
                <a:effectLst/>
                <a:latin typeface="Google Sans Text"/>
              </a:rPr>
              <a:t> (log ceny): </a:t>
            </a:r>
            <a:r>
              <a:rPr lang="sk-SK" sz="1700" b="1" i="0" dirty="0" err="1">
                <a:solidFill>
                  <a:schemeClr val="tx1"/>
                </a:solidFill>
                <a:effectLst/>
                <a:latin typeface="Google Sans Text"/>
              </a:rPr>
              <a:t>Bimodálna</a:t>
            </a:r>
            <a:r>
              <a:rPr lang="sk-SK" sz="1700" b="1" i="0" dirty="0">
                <a:solidFill>
                  <a:schemeClr val="tx1"/>
                </a:solidFill>
                <a:effectLst/>
                <a:latin typeface="Google Sans Text"/>
              </a:rPr>
              <a:t> distribúcia</a:t>
            </a:r>
            <a:r>
              <a:rPr lang="sk-SK" sz="1700" b="0" i="0" dirty="0">
                <a:solidFill>
                  <a:schemeClr val="tx1"/>
                </a:solidFill>
                <a:effectLst/>
                <a:latin typeface="Google Sans Text"/>
              </a:rPr>
              <a:t> (jasné oddelenie predaja/prenájmu).</a:t>
            </a:r>
          </a:p>
          <a:p>
            <a:pPr marL="742950" lvl="1" indent="-285750" algn="l">
              <a:buFont typeface="Arial" panose="020B0604020202020204" pitchFamily="34" charset="0"/>
              <a:buChar char="•"/>
            </a:pPr>
            <a:r>
              <a:rPr lang="sk-SK" sz="1700" b="0" i="0" dirty="0">
                <a:solidFill>
                  <a:schemeClr val="tx1"/>
                </a:solidFill>
                <a:effectLst/>
                <a:latin typeface="Google Sans Text"/>
              </a:rPr>
              <a:t>Vzťah cena </a:t>
            </a:r>
            <a:r>
              <a:rPr lang="sk-SK" sz="1700" b="0" i="0" dirty="0" err="1">
                <a:solidFill>
                  <a:schemeClr val="tx1"/>
                </a:solidFill>
                <a:effectLst/>
                <a:latin typeface="Google Sans Text"/>
              </a:rPr>
              <a:t>vs</a:t>
            </a:r>
            <a:r>
              <a:rPr lang="sk-SK" sz="1700" b="0" i="0" dirty="0">
                <a:solidFill>
                  <a:schemeClr val="tx1"/>
                </a:solidFill>
                <a:effectLst/>
                <a:latin typeface="Google Sans Text"/>
              </a:rPr>
              <a:t>. rozloha: Pozitívna korelácia.</a:t>
            </a:r>
          </a:p>
          <a:p>
            <a:pPr marL="742950" lvl="1" indent="-285750" algn="l">
              <a:buFont typeface="Arial" panose="020B0604020202020204" pitchFamily="34" charset="0"/>
              <a:buChar char="•"/>
            </a:pPr>
            <a:r>
              <a:rPr lang="sk-SK" sz="1700" b="0" i="0" dirty="0">
                <a:solidFill>
                  <a:schemeClr val="tx1"/>
                </a:solidFill>
                <a:effectLst/>
                <a:latin typeface="Google Sans Text"/>
              </a:rPr>
              <a:t>Regionálne disparity: BA kraj dominantný (počet, priemerná cena).</a:t>
            </a:r>
          </a:p>
          <a:p>
            <a:pPr algn="l">
              <a:buFont typeface="Arial" panose="020B0604020202020204" pitchFamily="34" charset="0"/>
              <a:buChar char="•"/>
            </a:pPr>
            <a:r>
              <a:rPr lang="sk-SK" sz="1900" b="1" i="0" dirty="0">
                <a:solidFill>
                  <a:schemeClr val="tx1"/>
                </a:solidFill>
                <a:effectLst/>
                <a:latin typeface="Google Sans Text"/>
              </a:rPr>
              <a:t>Implikácie:</a:t>
            </a:r>
            <a:r>
              <a:rPr lang="sk-SK" sz="1900" b="0" i="0" dirty="0">
                <a:solidFill>
                  <a:schemeClr val="tx1"/>
                </a:solidFill>
                <a:effectLst/>
                <a:latin typeface="Google Sans Text"/>
              </a:rPr>
              <a:t> Dôležitosť </a:t>
            </a:r>
            <a:r>
              <a:rPr lang="sk-SK" sz="1900" b="0" i="0" dirty="0" err="1">
                <a:solidFill>
                  <a:schemeClr val="tx1"/>
                </a:solidFill>
                <a:effectLst/>
                <a:latin typeface="DM Mono"/>
              </a:rPr>
              <a:t>is_for_sale</a:t>
            </a:r>
            <a:r>
              <a:rPr lang="sk-SK" sz="1900" b="0" i="0" dirty="0">
                <a:solidFill>
                  <a:schemeClr val="tx1"/>
                </a:solidFill>
                <a:effectLst/>
                <a:latin typeface="Google Sans Text"/>
              </a:rPr>
              <a:t>, potenciál log-transformácie cien.</a:t>
            </a:r>
          </a:p>
          <a:p>
            <a:endParaRPr lang="sk-SK" dirty="0"/>
          </a:p>
        </p:txBody>
      </p:sp>
      <p:pic>
        <p:nvPicPr>
          <p:cNvPr id="4" name="Picture 3">
            <a:extLst>
              <a:ext uri="{FF2B5EF4-FFF2-40B4-BE49-F238E27FC236}">
                <a16:creationId xmlns:a16="http://schemas.microsoft.com/office/drawing/2014/main" id="{9E08B045-906A-492B-A987-BAD0127E3770}"/>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30529" y="3804185"/>
            <a:ext cx="4255261" cy="2838014"/>
          </a:xfrm>
          <a:prstGeom prst="rect">
            <a:avLst/>
          </a:prstGeom>
          <a:noFill/>
          <a:ln>
            <a:noFill/>
          </a:ln>
        </p:spPr>
      </p:pic>
      <p:pic>
        <p:nvPicPr>
          <p:cNvPr id="5" name="Picture 4">
            <a:extLst>
              <a:ext uri="{FF2B5EF4-FFF2-40B4-BE49-F238E27FC236}">
                <a16:creationId xmlns:a16="http://schemas.microsoft.com/office/drawing/2014/main" id="{1CB4469C-B657-4627-93AA-65DB10BBE90A}"/>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385790" y="3804185"/>
            <a:ext cx="4255261" cy="2838014"/>
          </a:xfrm>
          <a:prstGeom prst="rect">
            <a:avLst/>
          </a:prstGeom>
          <a:noFill/>
          <a:ln>
            <a:noFill/>
          </a:ln>
        </p:spPr>
      </p:pic>
      <p:pic>
        <p:nvPicPr>
          <p:cNvPr id="6" name="Picture 5">
            <a:extLst>
              <a:ext uri="{FF2B5EF4-FFF2-40B4-BE49-F238E27FC236}">
                <a16:creationId xmlns:a16="http://schemas.microsoft.com/office/drawing/2014/main" id="{C0CBF2EB-C74B-4020-BD0F-E34F63328C53}"/>
              </a:ext>
            </a:extLst>
          </p:cNvPr>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641051" y="3804184"/>
            <a:ext cx="3507692" cy="2845693"/>
          </a:xfrm>
          <a:prstGeom prst="rect">
            <a:avLst/>
          </a:prstGeom>
          <a:noFill/>
          <a:ln>
            <a:noFill/>
          </a:ln>
        </p:spPr>
      </p:pic>
      <p:pic>
        <p:nvPicPr>
          <p:cNvPr id="7" name="Picture 6">
            <a:extLst>
              <a:ext uri="{FF2B5EF4-FFF2-40B4-BE49-F238E27FC236}">
                <a16:creationId xmlns:a16="http://schemas.microsoft.com/office/drawing/2014/main" id="{CCEA6B3F-ECFF-473B-A723-4205BB103DFC}"/>
              </a:ext>
            </a:extLst>
          </p:cNvPr>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025336" y="0"/>
            <a:ext cx="3166663" cy="2059145"/>
          </a:xfrm>
          <a:prstGeom prst="rect">
            <a:avLst/>
          </a:prstGeom>
          <a:noFill/>
          <a:ln>
            <a:noFill/>
          </a:ln>
        </p:spPr>
      </p:pic>
      <p:pic>
        <p:nvPicPr>
          <p:cNvPr id="8" name="Picture 7">
            <a:extLst>
              <a:ext uri="{FF2B5EF4-FFF2-40B4-BE49-F238E27FC236}">
                <a16:creationId xmlns:a16="http://schemas.microsoft.com/office/drawing/2014/main" id="{F868B9C7-C8E9-4A95-B45E-DDBC3F4CE24F}"/>
              </a:ext>
            </a:extLst>
          </p:cNvPr>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025336" y="2059145"/>
            <a:ext cx="3166663" cy="1689197"/>
          </a:xfrm>
          <a:prstGeom prst="rect">
            <a:avLst/>
          </a:prstGeom>
          <a:noFill/>
          <a:ln>
            <a:noFill/>
          </a:ln>
        </p:spPr>
      </p:pic>
    </p:spTree>
    <p:extLst>
      <p:ext uri="{BB962C8B-B14F-4D97-AF65-F5344CB8AC3E}">
        <p14:creationId xmlns:p14="http://schemas.microsoft.com/office/powerpoint/2010/main" val="42133438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F3D5E-FDEE-45AF-A289-46627B08F631}"/>
              </a:ext>
            </a:extLst>
          </p:cNvPr>
          <p:cNvSpPr>
            <a:spLocks noGrp="1"/>
          </p:cNvSpPr>
          <p:nvPr>
            <p:ph type="title"/>
          </p:nvPr>
        </p:nvSpPr>
        <p:spPr/>
        <p:txBody>
          <a:bodyPr/>
          <a:lstStyle/>
          <a:p>
            <a:r>
              <a:rPr lang="sk-SK" dirty="0"/>
              <a:t> Príprava Dát pre Neurónovú Sieť</a:t>
            </a:r>
          </a:p>
        </p:txBody>
      </p:sp>
      <p:sp>
        <p:nvSpPr>
          <p:cNvPr id="3" name="Content Placeholder 2">
            <a:extLst>
              <a:ext uri="{FF2B5EF4-FFF2-40B4-BE49-F238E27FC236}">
                <a16:creationId xmlns:a16="http://schemas.microsoft.com/office/drawing/2014/main" id="{B7049902-A9BB-4B09-89C4-ABF778C28218}"/>
              </a:ext>
            </a:extLst>
          </p:cNvPr>
          <p:cNvSpPr>
            <a:spLocks noGrp="1"/>
          </p:cNvSpPr>
          <p:nvPr>
            <p:ph idx="1"/>
          </p:nvPr>
        </p:nvSpPr>
        <p:spPr/>
        <p:txBody>
          <a:bodyPr/>
          <a:lstStyle/>
          <a:p>
            <a:pPr marL="742950" lvl="1" indent="-285750" algn="l">
              <a:buFont typeface="Arial" panose="020B0604020202020204" pitchFamily="34" charset="0"/>
              <a:buChar char="•"/>
            </a:pPr>
            <a:r>
              <a:rPr lang="sk-SK" b="1" i="0" dirty="0" err="1">
                <a:solidFill>
                  <a:schemeClr val="tx1"/>
                </a:solidFill>
                <a:effectLst/>
                <a:latin typeface="Google Sans Text"/>
              </a:rPr>
              <a:t>One</a:t>
            </a:r>
            <a:r>
              <a:rPr lang="sk-SK" b="1" i="0" dirty="0">
                <a:solidFill>
                  <a:schemeClr val="tx1"/>
                </a:solidFill>
                <a:effectLst/>
                <a:latin typeface="Google Sans Text"/>
              </a:rPr>
              <a:t>-Hot </a:t>
            </a:r>
            <a:r>
              <a:rPr lang="sk-SK" b="1" i="0" dirty="0" err="1">
                <a:solidFill>
                  <a:schemeClr val="tx1"/>
                </a:solidFill>
                <a:effectLst/>
                <a:latin typeface="Google Sans Text"/>
              </a:rPr>
              <a:t>Encoding</a:t>
            </a:r>
            <a:r>
              <a:rPr lang="sk-SK" b="1" i="0" dirty="0">
                <a:solidFill>
                  <a:schemeClr val="tx1"/>
                </a:solidFill>
                <a:effectLst/>
                <a:latin typeface="Google Sans Text"/>
              </a:rPr>
              <a:t>:</a:t>
            </a:r>
            <a:r>
              <a:rPr lang="sk-SK" b="0" i="0" dirty="0">
                <a:solidFill>
                  <a:schemeClr val="tx1"/>
                </a:solidFill>
                <a:effectLst/>
                <a:latin typeface="Google Sans Text"/>
              </a:rPr>
              <a:t> Kategorické príznaky (napr. </a:t>
            </a:r>
            <a:r>
              <a:rPr lang="sk-SK" b="0" i="0" dirty="0" err="1">
                <a:solidFill>
                  <a:schemeClr val="tx1"/>
                </a:solidFill>
                <a:effectLst/>
                <a:latin typeface="DM Mono"/>
              </a:rPr>
              <a:t>addressRegion</a:t>
            </a:r>
            <a:r>
              <a:rPr lang="sk-SK" b="0" i="0" dirty="0">
                <a:solidFill>
                  <a:schemeClr val="tx1"/>
                </a:solidFill>
                <a:effectLst/>
                <a:latin typeface="Google Sans Text"/>
              </a:rPr>
              <a:t>, </a:t>
            </a:r>
            <a:r>
              <a:rPr lang="sk-SK" b="0" i="0" dirty="0" err="1">
                <a:solidFill>
                  <a:schemeClr val="tx1"/>
                </a:solidFill>
                <a:effectLst/>
                <a:latin typeface="DM Mono"/>
              </a:rPr>
              <a:t>streetAddress</a:t>
            </a:r>
            <a:r>
              <a:rPr lang="sk-SK" b="0" i="0" dirty="0">
                <a:solidFill>
                  <a:schemeClr val="tx1"/>
                </a:solidFill>
                <a:effectLst/>
                <a:latin typeface="Google Sans Text"/>
              </a:rPr>
              <a:t> – top 100 + 'Ostatné').</a:t>
            </a:r>
          </a:p>
          <a:p>
            <a:pPr marL="742950" lvl="1" indent="-285750" algn="l">
              <a:buFont typeface="Arial" panose="020B0604020202020204" pitchFamily="34" charset="0"/>
              <a:buChar char="•"/>
            </a:pPr>
            <a:r>
              <a:rPr lang="sk-SK" b="1" i="0" dirty="0">
                <a:solidFill>
                  <a:schemeClr val="tx1"/>
                </a:solidFill>
                <a:effectLst/>
                <a:latin typeface="Google Sans Text"/>
              </a:rPr>
              <a:t>Štandardizácia (Z-</a:t>
            </a:r>
            <a:r>
              <a:rPr lang="sk-SK" b="1" i="0" dirty="0" err="1">
                <a:solidFill>
                  <a:schemeClr val="tx1"/>
                </a:solidFill>
                <a:effectLst/>
                <a:latin typeface="Google Sans Text"/>
              </a:rPr>
              <a:t>score</a:t>
            </a:r>
            <a:r>
              <a:rPr lang="sk-SK" b="1" i="0" dirty="0">
                <a:solidFill>
                  <a:schemeClr val="tx1"/>
                </a:solidFill>
                <a:effectLst/>
                <a:latin typeface="Google Sans Text"/>
              </a:rPr>
              <a:t>):</a:t>
            </a:r>
            <a:r>
              <a:rPr lang="sk-SK" b="0" i="0" dirty="0">
                <a:solidFill>
                  <a:schemeClr val="tx1"/>
                </a:solidFill>
                <a:effectLst/>
                <a:latin typeface="Google Sans Text"/>
              </a:rPr>
              <a:t> Numerické príznaky (priemer 0, </a:t>
            </a:r>
            <a:r>
              <a:rPr lang="sk-SK" b="0" i="0" dirty="0" err="1">
                <a:solidFill>
                  <a:schemeClr val="tx1"/>
                </a:solidFill>
                <a:effectLst/>
                <a:latin typeface="Google Sans Text"/>
              </a:rPr>
              <a:t>std.odch</a:t>
            </a:r>
            <a:r>
              <a:rPr lang="sk-SK" b="0" i="0" dirty="0">
                <a:solidFill>
                  <a:schemeClr val="tx1"/>
                </a:solidFill>
                <a:effectLst/>
                <a:latin typeface="Google Sans Text"/>
              </a:rPr>
              <a:t>. 1).</a:t>
            </a:r>
          </a:p>
          <a:p>
            <a:pPr marL="742950" lvl="1" indent="-285750" algn="l">
              <a:buFont typeface="Arial" panose="020B0604020202020204" pitchFamily="34" charset="0"/>
              <a:buChar char="•"/>
            </a:pPr>
            <a:r>
              <a:rPr lang="sk-SK" b="0" i="0" dirty="0">
                <a:solidFill>
                  <a:schemeClr val="tx1"/>
                </a:solidFill>
                <a:effectLst/>
                <a:latin typeface="Google Sans Text"/>
              </a:rPr>
              <a:t>Uloženie parametrov transformácie (</a:t>
            </a:r>
            <a:r>
              <a:rPr lang="sk-SK" b="0" i="0" dirty="0" err="1">
                <a:solidFill>
                  <a:schemeClr val="tx1"/>
                </a:solidFill>
                <a:effectLst/>
                <a:latin typeface="DM Mono"/>
              </a:rPr>
              <a:t>feature_info</a:t>
            </a:r>
            <a:r>
              <a:rPr lang="sk-SK" b="0" i="0" dirty="0">
                <a:solidFill>
                  <a:schemeClr val="tx1"/>
                </a:solidFill>
                <a:effectLst/>
                <a:latin typeface="Google Sans Text"/>
              </a:rPr>
              <a:t>).</a:t>
            </a:r>
          </a:p>
          <a:p>
            <a:pPr marL="742950" lvl="1" indent="-285750" algn="l">
              <a:buFont typeface="Arial" panose="020B0604020202020204" pitchFamily="34" charset="0"/>
              <a:buChar char="•"/>
            </a:pPr>
            <a:r>
              <a:rPr lang="sk-SK" b="0" i="0" dirty="0">
                <a:solidFill>
                  <a:schemeClr val="tx1"/>
                </a:solidFill>
                <a:effectLst/>
                <a:latin typeface="Google Sans Text"/>
              </a:rPr>
              <a:t>Rozdelenie: Tréningová (80%) / Testovacia (20%) </a:t>
            </a:r>
            <a:r>
              <a:rPr lang="sk-SK" b="0" i="0" dirty="0" err="1">
                <a:solidFill>
                  <a:schemeClr val="tx1"/>
                </a:solidFill>
                <a:effectLst/>
                <a:latin typeface="Google Sans Text"/>
              </a:rPr>
              <a:t>sada</a:t>
            </a:r>
            <a:r>
              <a:rPr lang="sk-SK" b="0" i="0" dirty="0">
                <a:solidFill>
                  <a:schemeClr val="tx1"/>
                </a:solidFill>
                <a:effectLst/>
                <a:latin typeface="Google Sans Text"/>
              </a:rPr>
              <a:t>.</a:t>
            </a:r>
          </a:p>
          <a:p>
            <a:pPr marL="0" indent="0">
              <a:buNone/>
            </a:pPr>
            <a:endParaRPr lang="sk-SK" dirty="0">
              <a:solidFill>
                <a:schemeClr val="tx1"/>
              </a:solidFill>
            </a:endParaRPr>
          </a:p>
        </p:txBody>
      </p:sp>
    </p:spTree>
    <p:extLst>
      <p:ext uri="{BB962C8B-B14F-4D97-AF65-F5344CB8AC3E}">
        <p14:creationId xmlns:p14="http://schemas.microsoft.com/office/powerpoint/2010/main" val="27487823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24288-0A96-45CD-BE2B-C072610163ED}"/>
              </a:ext>
            </a:extLst>
          </p:cNvPr>
          <p:cNvSpPr>
            <a:spLocks noGrp="1"/>
          </p:cNvSpPr>
          <p:nvPr>
            <p:ph type="title"/>
          </p:nvPr>
        </p:nvSpPr>
        <p:spPr/>
        <p:txBody>
          <a:bodyPr/>
          <a:lstStyle/>
          <a:p>
            <a:r>
              <a:rPr lang="sk-SK" dirty="0"/>
              <a:t>Architektúra Neurónovej Siete</a:t>
            </a:r>
          </a:p>
        </p:txBody>
      </p:sp>
      <p:sp>
        <p:nvSpPr>
          <p:cNvPr id="3" name="Content Placeholder 2">
            <a:extLst>
              <a:ext uri="{FF2B5EF4-FFF2-40B4-BE49-F238E27FC236}">
                <a16:creationId xmlns:a16="http://schemas.microsoft.com/office/drawing/2014/main" id="{BE2B49EB-F705-4895-8F44-499C392BC318}"/>
              </a:ext>
            </a:extLst>
          </p:cNvPr>
          <p:cNvSpPr>
            <a:spLocks noGrp="1"/>
          </p:cNvSpPr>
          <p:nvPr>
            <p:ph idx="1"/>
          </p:nvPr>
        </p:nvSpPr>
        <p:spPr>
          <a:xfrm>
            <a:off x="1097280" y="1845734"/>
            <a:ext cx="5834012" cy="4023360"/>
          </a:xfrm>
        </p:spPr>
        <p:txBody>
          <a:bodyPr/>
          <a:lstStyle/>
          <a:p>
            <a:pPr algn="l">
              <a:buFont typeface="Arial" panose="020B0604020202020204" pitchFamily="34" charset="0"/>
              <a:buChar char="•"/>
            </a:pPr>
            <a:r>
              <a:rPr lang="sk-SK" b="1" i="0" dirty="0">
                <a:solidFill>
                  <a:schemeClr val="tx1"/>
                </a:solidFill>
                <a:effectLst/>
                <a:latin typeface="Google Sans Text"/>
              </a:rPr>
              <a:t>Kompilácia:</a:t>
            </a:r>
            <a:r>
              <a:rPr lang="sk-SK" b="0" i="0" dirty="0">
                <a:solidFill>
                  <a:schemeClr val="tx1"/>
                </a:solidFill>
                <a:effectLst/>
                <a:latin typeface="Google Sans Text"/>
              </a:rPr>
              <a:t> </a:t>
            </a:r>
            <a:r>
              <a:rPr lang="sk-SK" b="0" i="0" dirty="0" err="1">
                <a:solidFill>
                  <a:schemeClr val="tx1"/>
                </a:solidFill>
                <a:effectLst/>
                <a:latin typeface="Google Sans Text"/>
              </a:rPr>
              <a:t>Optimalizátor</a:t>
            </a:r>
            <a:r>
              <a:rPr lang="sk-SK" b="0" i="0" dirty="0">
                <a:solidFill>
                  <a:schemeClr val="tx1"/>
                </a:solidFill>
                <a:effectLst/>
                <a:latin typeface="Google Sans Text"/>
              </a:rPr>
              <a:t> </a:t>
            </a:r>
            <a:r>
              <a:rPr lang="sk-SK" b="0" i="0" dirty="0">
                <a:solidFill>
                  <a:schemeClr val="tx1"/>
                </a:solidFill>
                <a:effectLst/>
                <a:latin typeface="DM Mono"/>
              </a:rPr>
              <a:t>Adam</a:t>
            </a:r>
            <a:r>
              <a:rPr lang="sk-SK" b="0" i="0" dirty="0">
                <a:solidFill>
                  <a:schemeClr val="tx1"/>
                </a:solidFill>
                <a:effectLst/>
                <a:latin typeface="Google Sans Text"/>
              </a:rPr>
              <a:t>, Stratová funkcia </a:t>
            </a:r>
            <a:r>
              <a:rPr lang="sk-SK" b="0" i="0" dirty="0">
                <a:solidFill>
                  <a:schemeClr val="tx1"/>
                </a:solidFill>
                <a:effectLst/>
                <a:latin typeface="DM Mono"/>
              </a:rPr>
              <a:t>MSE</a:t>
            </a:r>
            <a:r>
              <a:rPr lang="sk-SK" b="0" i="0" dirty="0">
                <a:solidFill>
                  <a:schemeClr val="tx1"/>
                </a:solidFill>
                <a:effectLst/>
                <a:latin typeface="Google Sans Text"/>
              </a:rPr>
              <a:t>, Metrika </a:t>
            </a:r>
            <a:r>
              <a:rPr lang="sk-SK" b="0" i="0" dirty="0">
                <a:solidFill>
                  <a:schemeClr val="tx1"/>
                </a:solidFill>
                <a:effectLst/>
                <a:latin typeface="DM Mono"/>
              </a:rPr>
              <a:t>MAE</a:t>
            </a:r>
            <a:r>
              <a:rPr lang="sk-SK" b="0" i="0" dirty="0">
                <a:solidFill>
                  <a:schemeClr val="tx1"/>
                </a:solidFill>
                <a:effectLst/>
                <a:latin typeface="Google Sans Text"/>
              </a:rPr>
              <a:t>.</a:t>
            </a:r>
          </a:p>
          <a:p>
            <a:pPr algn="l">
              <a:buFont typeface="Arial" panose="020B0604020202020204" pitchFamily="34" charset="0"/>
              <a:buChar char="•"/>
            </a:pPr>
            <a:r>
              <a:rPr lang="sk-SK" b="1" i="0" dirty="0">
                <a:solidFill>
                  <a:schemeClr val="tx1"/>
                </a:solidFill>
                <a:effectLst/>
                <a:latin typeface="Google Sans Text"/>
              </a:rPr>
              <a:t>Trénovanie:</a:t>
            </a:r>
            <a:r>
              <a:rPr lang="sk-SK" b="0" i="0" dirty="0">
                <a:solidFill>
                  <a:schemeClr val="tx1"/>
                </a:solidFill>
                <a:effectLst/>
                <a:latin typeface="Google Sans Text"/>
              </a:rPr>
              <a:t> </a:t>
            </a:r>
            <a:r>
              <a:rPr lang="sk-SK" b="0" i="0" dirty="0" err="1">
                <a:solidFill>
                  <a:schemeClr val="tx1"/>
                </a:solidFill>
                <a:effectLst/>
                <a:latin typeface="Google Sans Text"/>
              </a:rPr>
              <a:t>Callbacky</a:t>
            </a:r>
            <a:r>
              <a:rPr lang="sk-SK" b="0" i="0" dirty="0">
                <a:solidFill>
                  <a:schemeClr val="tx1"/>
                </a:solidFill>
                <a:effectLst/>
                <a:latin typeface="Google Sans Text"/>
              </a:rPr>
              <a:t> </a:t>
            </a:r>
            <a:r>
              <a:rPr lang="sk-SK" b="0" i="0" dirty="0" err="1">
                <a:solidFill>
                  <a:schemeClr val="tx1"/>
                </a:solidFill>
                <a:effectLst/>
                <a:latin typeface="DM Mono"/>
              </a:rPr>
              <a:t>EarlyStopping</a:t>
            </a:r>
            <a:r>
              <a:rPr lang="en-US" b="0" i="0" dirty="0">
                <a:solidFill>
                  <a:schemeClr val="tx1"/>
                </a:solidFill>
                <a:effectLst/>
                <a:latin typeface="DM Mono"/>
              </a:rPr>
              <a:t>,</a:t>
            </a:r>
            <a:r>
              <a:rPr lang="sk-SK" b="0" i="0" dirty="0">
                <a:solidFill>
                  <a:srgbClr val="E2E2E5"/>
                </a:solidFill>
                <a:effectLst/>
                <a:latin typeface="DM Mono"/>
              </a:rPr>
              <a:t> </a:t>
            </a:r>
            <a:r>
              <a:rPr lang="sk-SK" b="0" i="0" dirty="0" err="1">
                <a:solidFill>
                  <a:schemeClr val="tx1"/>
                </a:solidFill>
                <a:effectLst/>
                <a:latin typeface="DM Mono"/>
              </a:rPr>
              <a:t>ReduceLROnPlateau</a:t>
            </a:r>
            <a:r>
              <a:rPr lang="sk-SK" b="0" i="0" dirty="0">
                <a:solidFill>
                  <a:schemeClr val="tx1"/>
                </a:solidFill>
                <a:effectLst/>
                <a:latin typeface="Google Sans Text"/>
              </a:rPr>
              <a:t>.</a:t>
            </a:r>
          </a:p>
          <a:p>
            <a:endParaRPr lang="sk-SK" dirty="0"/>
          </a:p>
        </p:txBody>
      </p:sp>
      <p:pic>
        <p:nvPicPr>
          <p:cNvPr id="5" name="Picture 4">
            <a:extLst>
              <a:ext uri="{FF2B5EF4-FFF2-40B4-BE49-F238E27FC236}">
                <a16:creationId xmlns:a16="http://schemas.microsoft.com/office/drawing/2014/main" id="{48A6FC4E-DD67-4B98-A4AD-9A45DEB53A29}"/>
              </a:ext>
            </a:extLst>
          </p:cNvPr>
          <p:cNvPicPr>
            <a:picLocks noChangeAspect="1"/>
          </p:cNvPicPr>
          <p:nvPr/>
        </p:nvPicPr>
        <p:blipFill>
          <a:blip r:embed="rId3"/>
          <a:stretch>
            <a:fillRect/>
          </a:stretch>
        </p:blipFill>
        <p:spPr>
          <a:xfrm>
            <a:off x="7099483" y="2255137"/>
            <a:ext cx="4667258" cy="3204553"/>
          </a:xfrm>
          <a:prstGeom prst="rect">
            <a:avLst/>
          </a:prstGeom>
        </p:spPr>
      </p:pic>
    </p:spTree>
    <p:extLst>
      <p:ext uri="{BB962C8B-B14F-4D97-AF65-F5344CB8AC3E}">
        <p14:creationId xmlns:p14="http://schemas.microsoft.com/office/powerpoint/2010/main" val="8855429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9BC82-B6D7-494F-875E-42A93C9D9657}"/>
              </a:ext>
            </a:extLst>
          </p:cNvPr>
          <p:cNvSpPr>
            <a:spLocks noGrp="1"/>
          </p:cNvSpPr>
          <p:nvPr>
            <p:ph type="title"/>
          </p:nvPr>
        </p:nvSpPr>
        <p:spPr>
          <a:xfrm>
            <a:off x="1097280" y="286604"/>
            <a:ext cx="10058400" cy="938348"/>
          </a:xfrm>
        </p:spPr>
        <p:txBody>
          <a:bodyPr/>
          <a:lstStyle/>
          <a:p>
            <a:r>
              <a:rPr lang="sk-SK" dirty="0"/>
              <a:t>Výsledky Modelu – </a:t>
            </a:r>
            <a:r>
              <a:rPr lang="sk-SK" dirty="0" err="1"/>
              <a:t>Byty_Predaj</a:t>
            </a:r>
            <a:endParaRPr lang="sk-SK" dirty="0"/>
          </a:p>
        </p:txBody>
      </p:sp>
      <p:sp>
        <p:nvSpPr>
          <p:cNvPr id="3" name="Content Placeholder 2">
            <a:extLst>
              <a:ext uri="{FF2B5EF4-FFF2-40B4-BE49-F238E27FC236}">
                <a16:creationId xmlns:a16="http://schemas.microsoft.com/office/drawing/2014/main" id="{F435A526-FEC7-4EC0-8F2C-E3329DACD078}"/>
              </a:ext>
            </a:extLst>
          </p:cNvPr>
          <p:cNvSpPr>
            <a:spLocks noGrp="1"/>
          </p:cNvSpPr>
          <p:nvPr>
            <p:ph idx="1"/>
          </p:nvPr>
        </p:nvSpPr>
        <p:spPr>
          <a:xfrm>
            <a:off x="1011016" y="1452047"/>
            <a:ext cx="3225417" cy="5119349"/>
          </a:xfrm>
        </p:spPr>
        <p:txBody>
          <a:bodyPr/>
          <a:lstStyle/>
          <a:p>
            <a:pPr algn="l">
              <a:buFont typeface="Arial" panose="020B0604020202020204" pitchFamily="34" charset="0"/>
              <a:buChar char="•"/>
            </a:pPr>
            <a:r>
              <a:rPr lang="sk-SK" b="1" i="0" dirty="0">
                <a:solidFill>
                  <a:schemeClr val="tx1"/>
                </a:solidFill>
                <a:effectLst/>
                <a:latin typeface="Google Sans Text"/>
              </a:rPr>
              <a:t>Dáta:</a:t>
            </a:r>
            <a:r>
              <a:rPr lang="sk-SK" b="0" i="0" dirty="0">
                <a:solidFill>
                  <a:schemeClr val="tx1"/>
                </a:solidFill>
                <a:effectLst/>
                <a:latin typeface="Google Sans Text"/>
              </a:rPr>
              <a:t> 8159 tréning. / 2039 test. vzoriek (123 príznakov).</a:t>
            </a:r>
          </a:p>
          <a:p>
            <a:pPr algn="l">
              <a:buFont typeface="Arial" panose="020B0604020202020204" pitchFamily="34" charset="0"/>
              <a:buChar char="•"/>
            </a:pPr>
            <a:r>
              <a:rPr lang="sk-SK" b="1" i="0" dirty="0">
                <a:solidFill>
                  <a:schemeClr val="tx1"/>
                </a:solidFill>
                <a:effectLst/>
                <a:latin typeface="Google Sans Text"/>
              </a:rPr>
              <a:t>Metriky (Test):</a:t>
            </a:r>
            <a:endParaRPr lang="sk-SK" b="0" i="0" dirty="0">
              <a:solidFill>
                <a:schemeClr val="tx1"/>
              </a:solidFill>
              <a:effectLst/>
              <a:latin typeface="Google Sans Text"/>
            </a:endParaRPr>
          </a:p>
          <a:p>
            <a:pPr marL="742950" lvl="1" indent="-285750" algn="l">
              <a:buFont typeface="Arial" panose="020B0604020202020204" pitchFamily="34" charset="0"/>
              <a:buChar char="•"/>
            </a:pPr>
            <a:r>
              <a:rPr lang="sk-SK" b="0" i="0" dirty="0">
                <a:solidFill>
                  <a:schemeClr val="tx1"/>
                </a:solidFill>
                <a:effectLst/>
                <a:latin typeface="Google Sans Text"/>
              </a:rPr>
              <a:t>RMSE: 36 397 EUR</a:t>
            </a:r>
          </a:p>
          <a:p>
            <a:pPr marL="742950" lvl="1" indent="-285750" algn="l">
              <a:buFont typeface="Arial" panose="020B0604020202020204" pitchFamily="34" charset="0"/>
              <a:buChar char="•"/>
            </a:pPr>
            <a:r>
              <a:rPr lang="sk-SK" b="0" i="0" dirty="0">
                <a:solidFill>
                  <a:schemeClr val="tx1"/>
                </a:solidFill>
                <a:effectLst/>
                <a:latin typeface="Google Sans Text"/>
              </a:rPr>
              <a:t>MAE: 22 936 EUR</a:t>
            </a:r>
          </a:p>
          <a:p>
            <a:pPr marL="742950" lvl="1" indent="-285750" algn="l">
              <a:buFont typeface="Arial" panose="020B0604020202020204" pitchFamily="34" charset="0"/>
              <a:buChar char="•"/>
            </a:pPr>
            <a:r>
              <a:rPr lang="sk-SK" b="1" i="0" dirty="0">
                <a:solidFill>
                  <a:schemeClr val="tx1"/>
                </a:solidFill>
                <a:effectLst/>
                <a:latin typeface="Google Sans Text"/>
              </a:rPr>
              <a:t>R²: 0.8380</a:t>
            </a:r>
            <a:r>
              <a:rPr lang="sk-SK" b="0" i="0" dirty="0">
                <a:solidFill>
                  <a:schemeClr val="tx1"/>
                </a:solidFill>
                <a:effectLst/>
                <a:latin typeface="Google Sans Text"/>
              </a:rPr>
              <a:t> (vysvetlených 83.8% variability)</a:t>
            </a:r>
          </a:p>
          <a:p>
            <a:endParaRPr lang="sk-SK" dirty="0">
              <a:solidFill>
                <a:schemeClr val="tx1"/>
              </a:solidFill>
            </a:endParaRPr>
          </a:p>
        </p:txBody>
      </p:sp>
      <p:pic>
        <p:nvPicPr>
          <p:cNvPr id="7" name="Picture 6">
            <a:extLst>
              <a:ext uri="{FF2B5EF4-FFF2-40B4-BE49-F238E27FC236}">
                <a16:creationId xmlns:a16="http://schemas.microsoft.com/office/drawing/2014/main" id="{3B6B311D-E5F3-4278-B27E-BC6C153B67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5067" y="1388853"/>
            <a:ext cx="7977284" cy="5318189"/>
          </a:xfrm>
          <a:prstGeom prst="rect">
            <a:avLst/>
          </a:prstGeom>
        </p:spPr>
      </p:pic>
      <p:pic>
        <p:nvPicPr>
          <p:cNvPr id="5" name="Picture 4">
            <a:extLst>
              <a:ext uri="{FF2B5EF4-FFF2-40B4-BE49-F238E27FC236}">
                <a16:creationId xmlns:a16="http://schemas.microsoft.com/office/drawing/2014/main" id="{AAA220E7-01BC-4DC3-9933-B604359017A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04218" y="3680205"/>
            <a:ext cx="4182086" cy="2509252"/>
          </a:xfrm>
          <a:prstGeom prst="rect">
            <a:avLst/>
          </a:prstGeom>
        </p:spPr>
      </p:pic>
    </p:spTree>
    <p:extLst>
      <p:ext uri="{BB962C8B-B14F-4D97-AF65-F5344CB8AC3E}">
        <p14:creationId xmlns:p14="http://schemas.microsoft.com/office/powerpoint/2010/main" val="33478061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6AD19-25E4-4716-98BE-684D03D75B7D}"/>
              </a:ext>
            </a:extLst>
          </p:cNvPr>
          <p:cNvSpPr>
            <a:spLocks noGrp="1"/>
          </p:cNvSpPr>
          <p:nvPr>
            <p:ph type="title"/>
          </p:nvPr>
        </p:nvSpPr>
        <p:spPr>
          <a:xfrm>
            <a:off x="1066800" y="102173"/>
            <a:ext cx="10058400" cy="1450757"/>
          </a:xfrm>
        </p:spPr>
        <p:txBody>
          <a:bodyPr/>
          <a:lstStyle/>
          <a:p>
            <a:r>
              <a:rPr lang="sk-SK" dirty="0"/>
              <a:t>Výsledky Modelu – </a:t>
            </a:r>
            <a:r>
              <a:rPr lang="sk-SK" dirty="0" err="1"/>
              <a:t>Byty_Prenájom</a:t>
            </a:r>
            <a:endParaRPr lang="sk-SK" dirty="0"/>
          </a:p>
        </p:txBody>
      </p:sp>
      <p:sp>
        <p:nvSpPr>
          <p:cNvPr id="3" name="Content Placeholder 2">
            <a:extLst>
              <a:ext uri="{FF2B5EF4-FFF2-40B4-BE49-F238E27FC236}">
                <a16:creationId xmlns:a16="http://schemas.microsoft.com/office/drawing/2014/main" id="{7730FA9A-AB0E-4386-81B4-ECFC3DBECDCD}"/>
              </a:ext>
            </a:extLst>
          </p:cNvPr>
          <p:cNvSpPr>
            <a:spLocks noGrp="1"/>
          </p:cNvSpPr>
          <p:nvPr>
            <p:ph idx="1"/>
          </p:nvPr>
        </p:nvSpPr>
        <p:spPr>
          <a:xfrm>
            <a:off x="638355" y="1806372"/>
            <a:ext cx="3334397" cy="2161779"/>
          </a:xfrm>
        </p:spPr>
        <p:txBody>
          <a:bodyPr>
            <a:normAutofit lnSpcReduction="10000"/>
          </a:bodyPr>
          <a:lstStyle/>
          <a:p>
            <a:pPr algn="l">
              <a:buFont typeface="Arial" panose="020B0604020202020204" pitchFamily="34" charset="0"/>
              <a:buChar char="•"/>
            </a:pPr>
            <a:r>
              <a:rPr lang="sk-SK" b="1" i="0" dirty="0">
                <a:solidFill>
                  <a:schemeClr val="tx1"/>
                </a:solidFill>
                <a:effectLst/>
                <a:latin typeface="Google Sans Text"/>
              </a:rPr>
              <a:t>Dáta:</a:t>
            </a:r>
            <a:r>
              <a:rPr lang="sk-SK" b="0" i="0" dirty="0">
                <a:solidFill>
                  <a:schemeClr val="tx1"/>
                </a:solidFill>
                <a:effectLst/>
                <a:latin typeface="Google Sans Text"/>
              </a:rPr>
              <a:t> 3351 tréning. / 837 test. vzoriek (123 príznakov).</a:t>
            </a:r>
          </a:p>
          <a:p>
            <a:pPr algn="l">
              <a:buFont typeface="Arial" panose="020B0604020202020204" pitchFamily="34" charset="0"/>
              <a:buChar char="•"/>
            </a:pPr>
            <a:r>
              <a:rPr lang="sk-SK" b="1" i="0" dirty="0">
                <a:solidFill>
                  <a:schemeClr val="tx1"/>
                </a:solidFill>
                <a:effectLst/>
                <a:latin typeface="Google Sans Text"/>
              </a:rPr>
              <a:t>Metriky (Test):</a:t>
            </a:r>
            <a:endParaRPr lang="sk-SK" b="0" i="0" dirty="0">
              <a:solidFill>
                <a:schemeClr val="tx1"/>
              </a:solidFill>
              <a:effectLst/>
              <a:latin typeface="Google Sans Text"/>
            </a:endParaRPr>
          </a:p>
          <a:p>
            <a:pPr marL="742950" lvl="1" indent="-285750" algn="l">
              <a:buFont typeface="Arial" panose="020B0604020202020204" pitchFamily="34" charset="0"/>
              <a:buChar char="•"/>
            </a:pPr>
            <a:r>
              <a:rPr lang="sk-SK" b="0" i="0" dirty="0">
                <a:solidFill>
                  <a:schemeClr val="tx1"/>
                </a:solidFill>
                <a:effectLst/>
                <a:latin typeface="Google Sans Text"/>
              </a:rPr>
              <a:t>RMSE: 155 EUR</a:t>
            </a:r>
          </a:p>
          <a:p>
            <a:pPr marL="742950" lvl="1" indent="-285750" algn="l">
              <a:buFont typeface="Arial" panose="020B0604020202020204" pitchFamily="34" charset="0"/>
              <a:buChar char="•"/>
            </a:pPr>
            <a:r>
              <a:rPr lang="sk-SK" b="0" i="0" dirty="0">
                <a:solidFill>
                  <a:schemeClr val="tx1"/>
                </a:solidFill>
                <a:effectLst/>
                <a:latin typeface="Google Sans Text"/>
              </a:rPr>
              <a:t>MAE: 106 EUR</a:t>
            </a:r>
          </a:p>
          <a:p>
            <a:pPr marL="742950" lvl="1" indent="-285750" algn="l">
              <a:buFont typeface="Arial" panose="020B0604020202020204" pitchFamily="34" charset="0"/>
              <a:buChar char="•"/>
            </a:pPr>
            <a:r>
              <a:rPr lang="sk-SK" b="1" i="0" dirty="0">
                <a:solidFill>
                  <a:schemeClr val="tx1"/>
                </a:solidFill>
                <a:effectLst/>
                <a:latin typeface="Google Sans Text"/>
              </a:rPr>
              <a:t>R²: 0.7041</a:t>
            </a:r>
            <a:r>
              <a:rPr lang="sk-SK" b="0" i="0" dirty="0">
                <a:solidFill>
                  <a:schemeClr val="tx1"/>
                </a:solidFill>
                <a:effectLst/>
                <a:latin typeface="Google Sans Text"/>
              </a:rPr>
              <a:t> (najnižší výkon, priestor na zlepšenie)</a:t>
            </a:r>
          </a:p>
          <a:p>
            <a:endParaRPr lang="sk-SK" dirty="0">
              <a:solidFill>
                <a:schemeClr val="tx1"/>
              </a:solidFill>
            </a:endParaRPr>
          </a:p>
        </p:txBody>
      </p:sp>
      <p:pic>
        <p:nvPicPr>
          <p:cNvPr id="7" name="Picture 6">
            <a:extLst>
              <a:ext uri="{FF2B5EF4-FFF2-40B4-BE49-F238E27FC236}">
                <a16:creationId xmlns:a16="http://schemas.microsoft.com/office/drawing/2014/main" id="{CDDFEC89-BC03-43F3-9345-DCEE35FC88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01064" y="1576382"/>
            <a:ext cx="7927675" cy="5285116"/>
          </a:xfrm>
          <a:prstGeom prst="rect">
            <a:avLst/>
          </a:prstGeom>
        </p:spPr>
      </p:pic>
      <p:pic>
        <p:nvPicPr>
          <p:cNvPr id="5" name="Picture 4">
            <a:extLst>
              <a:ext uri="{FF2B5EF4-FFF2-40B4-BE49-F238E27FC236}">
                <a16:creationId xmlns:a16="http://schemas.microsoft.com/office/drawing/2014/main" id="{BE32D600-FA5A-442B-AF28-DBE1D227C30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55976" y="3968151"/>
            <a:ext cx="4083176" cy="2449906"/>
          </a:xfrm>
          <a:prstGeom prst="rect">
            <a:avLst/>
          </a:prstGeom>
        </p:spPr>
      </p:pic>
    </p:spTree>
    <p:extLst>
      <p:ext uri="{BB962C8B-B14F-4D97-AF65-F5344CB8AC3E}">
        <p14:creationId xmlns:p14="http://schemas.microsoft.com/office/powerpoint/2010/main" val="32796222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2F6B6-0DD6-49C9-BFF7-7A0AE5347774}"/>
              </a:ext>
            </a:extLst>
          </p:cNvPr>
          <p:cNvSpPr>
            <a:spLocks noGrp="1"/>
          </p:cNvSpPr>
          <p:nvPr>
            <p:ph type="title"/>
          </p:nvPr>
        </p:nvSpPr>
        <p:spPr/>
        <p:txBody>
          <a:bodyPr/>
          <a:lstStyle/>
          <a:p>
            <a:r>
              <a:rPr lang="en-US" dirty="0"/>
              <a:t>V</a:t>
            </a:r>
            <a:r>
              <a:rPr lang="sk-SK" dirty="0" err="1"/>
              <a:t>ýsledky</a:t>
            </a:r>
            <a:r>
              <a:rPr lang="sk-SK" dirty="0"/>
              <a:t> Modelu – </a:t>
            </a:r>
            <a:r>
              <a:rPr lang="sk-SK" dirty="0" err="1"/>
              <a:t>Byty_Combined</a:t>
            </a:r>
            <a:endParaRPr lang="sk-SK" dirty="0"/>
          </a:p>
        </p:txBody>
      </p:sp>
      <p:sp>
        <p:nvSpPr>
          <p:cNvPr id="3" name="Content Placeholder 2">
            <a:extLst>
              <a:ext uri="{FF2B5EF4-FFF2-40B4-BE49-F238E27FC236}">
                <a16:creationId xmlns:a16="http://schemas.microsoft.com/office/drawing/2014/main" id="{46394E8B-110B-49DF-A8A0-40E212E1A737}"/>
              </a:ext>
            </a:extLst>
          </p:cNvPr>
          <p:cNvSpPr>
            <a:spLocks noGrp="1"/>
          </p:cNvSpPr>
          <p:nvPr>
            <p:ph idx="1"/>
          </p:nvPr>
        </p:nvSpPr>
        <p:spPr>
          <a:xfrm>
            <a:off x="1097280" y="1845734"/>
            <a:ext cx="3388456" cy="4023360"/>
          </a:xfrm>
        </p:spPr>
        <p:txBody>
          <a:bodyPr>
            <a:normAutofit lnSpcReduction="10000"/>
          </a:bodyPr>
          <a:lstStyle/>
          <a:p>
            <a:pPr algn="l">
              <a:buFont typeface="Arial" panose="020B0604020202020204" pitchFamily="34" charset="0"/>
              <a:buChar char="•"/>
            </a:pPr>
            <a:r>
              <a:rPr lang="sk-SK" b="1" i="0" dirty="0">
                <a:solidFill>
                  <a:schemeClr val="tx1"/>
                </a:solidFill>
                <a:effectLst/>
                <a:latin typeface="Google Sans Text"/>
              </a:rPr>
              <a:t>Dáta:</a:t>
            </a:r>
            <a:r>
              <a:rPr lang="sk-SK" b="0" i="0" dirty="0">
                <a:solidFill>
                  <a:schemeClr val="tx1"/>
                </a:solidFill>
                <a:effectLst/>
                <a:latin typeface="Google Sans Text"/>
              </a:rPr>
              <a:t> 11588 tréning. / 2896 test. (124 príznakov, vrátane </a:t>
            </a:r>
            <a:r>
              <a:rPr lang="sk-SK" b="0" i="0" dirty="0" err="1">
                <a:solidFill>
                  <a:schemeClr val="tx1"/>
                </a:solidFill>
                <a:effectLst/>
                <a:latin typeface="DM Mono"/>
              </a:rPr>
              <a:t>is_for_sale</a:t>
            </a:r>
            <a:r>
              <a:rPr lang="sk-SK" b="0" i="0" dirty="0">
                <a:solidFill>
                  <a:schemeClr val="tx1"/>
                </a:solidFill>
                <a:effectLst/>
                <a:latin typeface="Google Sans Text"/>
              </a:rPr>
              <a:t>).</a:t>
            </a:r>
          </a:p>
          <a:p>
            <a:pPr algn="l">
              <a:buFont typeface="Arial" panose="020B0604020202020204" pitchFamily="34" charset="0"/>
              <a:buChar char="•"/>
            </a:pPr>
            <a:r>
              <a:rPr lang="sk-SK" b="1" i="0" dirty="0">
                <a:solidFill>
                  <a:schemeClr val="tx1"/>
                </a:solidFill>
                <a:effectLst/>
                <a:latin typeface="Google Sans Text"/>
              </a:rPr>
              <a:t>Celkové Metriky (Test):</a:t>
            </a:r>
            <a:r>
              <a:rPr lang="sk-SK" b="0" i="0" dirty="0">
                <a:solidFill>
                  <a:schemeClr val="tx1"/>
                </a:solidFill>
                <a:effectLst/>
                <a:latin typeface="Google Sans Text"/>
              </a:rPr>
              <a:t> RMSE: 28 895 EUR, MAE: 15 659 EUR, </a:t>
            </a:r>
            <a:r>
              <a:rPr lang="sk-SK" b="1" i="0" dirty="0">
                <a:solidFill>
                  <a:schemeClr val="tx1"/>
                </a:solidFill>
                <a:effectLst/>
                <a:latin typeface="Google Sans Text"/>
              </a:rPr>
              <a:t>Celkový R²: 0.9244</a:t>
            </a:r>
            <a:r>
              <a:rPr lang="sk-SK" b="0" i="0" dirty="0">
                <a:solidFill>
                  <a:schemeClr val="tx1"/>
                </a:solidFill>
                <a:effectLst/>
                <a:latin typeface="Google Sans Text"/>
              </a:rPr>
              <a:t> </a:t>
            </a:r>
          </a:p>
          <a:p>
            <a:pPr algn="l">
              <a:buFont typeface="Arial" panose="020B0604020202020204" pitchFamily="34" charset="0"/>
              <a:buChar char="•"/>
            </a:pPr>
            <a:r>
              <a:rPr lang="sk-SK" b="1" i="0" dirty="0">
                <a:solidFill>
                  <a:schemeClr val="tx1"/>
                </a:solidFill>
                <a:effectLst/>
                <a:latin typeface="Google Sans Text"/>
              </a:rPr>
              <a:t>Separátne metriky odhalili problém:</a:t>
            </a:r>
            <a:endParaRPr lang="sk-SK" b="0" i="0" dirty="0">
              <a:solidFill>
                <a:schemeClr val="tx1"/>
              </a:solidFill>
              <a:effectLst/>
              <a:latin typeface="Google Sans Text"/>
            </a:endParaRPr>
          </a:p>
          <a:p>
            <a:pPr marL="742950" lvl="1" indent="-285750" algn="l">
              <a:buFont typeface="Arial" panose="020B0604020202020204" pitchFamily="34" charset="0"/>
              <a:buChar char="•"/>
            </a:pPr>
            <a:r>
              <a:rPr lang="sk-SK" b="1" i="0" dirty="0">
                <a:solidFill>
                  <a:schemeClr val="tx1"/>
                </a:solidFill>
                <a:effectLst/>
                <a:latin typeface="Google Sans Text"/>
              </a:rPr>
              <a:t>Predaj (</a:t>
            </a:r>
            <a:r>
              <a:rPr lang="sk-SK" b="1" i="0" dirty="0" err="1">
                <a:solidFill>
                  <a:schemeClr val="tx1"/>
                </a:solidFill>
                <a:effectLst/>
                <a:latin typeface="DM Mono"/>
              </a:rPr>
              <a:t>is_for_sale</a:t>
            </a:r>
            <a:r>
              <a:rPr lang="sk-SK" b="1" i="0" dirty="0">
                <a:solidFill>
                  <a:schemeClr val="tx1"/>
                </a:solidFill>
                <a:effectLst/>
                <a:latin typeface="Google Sans Text"/>
              </a:rPr>
              <a:t>=1):</a:t>
            </a:r>
            <a:r>
              <a:rPr lang="sk-SK" b="0" i="0" dirty="0">
                <a:solidFill>
                  <a:schemeClr val="tx1"/>
                </a:solidFill>
                <a:effectLst/>
                <a:latin typeface="Google Sans Text"/>
              </a:rPr>
              <a:t> RMSE ≈ 35 793 EUR, </a:t>
            </a:r>
            <a:r>
              <a:rPr lang="sk-SK" b="1" i="0" dirty="0">
                <a:solidFill>
                  <a:schemeClr val="tx1"/>
                </a:solidFill>
                <a:effectLst/>
                <a:latin typeface="Google Sans Text"/>
              </a:rPr>
              <a:t>R² ≈ 0.824</a:t>
            </a:r>
            <a:endParaRPr lang="en-US" b="1" i="0" dirty="0">
              <a:solidFill>
                <a:schemeClr val="tx1"/>
              </a:solidFill>
              <a:effectLst/>
              <a:latin typeface="Google Sans Text"/>
            </a:endParaRPr>
          </a:p>
          <a:p>
            <a:pPr marL="742950" lvl="1" indent="-285750" algn="l">
              <a:buFont typeface="Arial" panose="020B0604020202020204" pitchFamily="34" charset="0"/>
              <a:buChar char="•"/>
            </a:pPr>
            <a:r>
              <a:rPr lang="sk-SK" b="1" i="0" dirty="0">
                <a:solidFill>
                  <a:schemeClr val="tx1"/>
                </a:solidFill>
                <a:effectLst/>
                <a:latin typeface="Google Sans Text"/>
              </a:rPr>
              <a:t>Prenájom (</a:t>
            </a:r>
            <a:r>
              <a:rPr lang="sk-SK" b="1" i="0" dirty="0" err="1">
                <a:solidFill>
                  <a:schemeClr val="tx1"/>
                </a:solidFill>
                <a:effectLst/>
                <a:latin typeface="DM Mono"/>
              </a:rPr>
              <a:t>is_for_sale</a:t>
            </a:r>
            <a:r>
              <a:rPr lang="sk-SK" b="1" i="0" dirty="0">
                <a:solidFill>
                  <a:schemeClr val="tx1"/>
                </a:solidFill>
                <a:effectLst/>
                <a:latin typeface="Google Sans Text"/>
              </a:rPr>
              <a:t>=0):</a:t>
            </a:r>
            <a:r>
              <a:rPr lang="sk-SK" b="0" i="0" dirty="0">
                <a:solidFill>
                  <a:schemeClr val="tx1"/>
                </a:solidFill>
                <a:effectLst/>
                <a:latin typeface="Google Sans Text"/>
              </a:rPr>
              <a:t> RMSE ≈ 862 EUR, </a:t>
            </a:r>
            <a:r>
              <a:rPr lang="sk-SK" b="1" i="0" dirty="0">
                <a:solidFill>
                  <a:schemeClr val="tx1"/>
                </a:solidFill>
                <a:effectLst/>
                <a:latin typeface="Google Sans Text"/>
              </a:rPr>
              <a:t>R² ≈ -2.869</a:t>
            </a:r>
            <a:r>
              <a:rPr lang="sk-SK" b="0" i="0" dirty="0">
                <a:solidFill>
                  <a:schemeClr val="tx1"/>
                </a:solidFill>
                <a:effectLst/>
                <a:latin typeface="Google Sans Text"/>
              </a:rPr>
              <a:t> </a:t>
            </a:r>
            <a:endParaRPr lang="sk-SK" dirty="0">
              <a:solidFill>
                <a:schemeClr val="tx1"/>
              </a:solidFill>
            </a:endParaRPr>
          </a:p>
        </p:txBody>
      </p:sp>
      <p:pic>
        <p:nvPicPr>
          <p:cNvPr id="7" name="Picture 6">
            <a:extLst>
              <a:ext uri="{FF2B5EF4-FFF2-40B4-BE49-F238E27FC236}">
                <a16:creationId xmlns:a16="http://schemas.microsoft.com/office/drawing/2014/main" id="{BA76D985-E758-42F9-9020-07351FAC47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01474" y="1576224"/>
            <a:ext cx="7492760" cy="4995173"/>
          </a:xfrm>
          <a:prstGeom prst="rect">
            <a:avLst/>
          </a:prstGeom>
        </p:spPr>
      </p:pic>
      <p:pic>
        <p:nvPicPr>
          <p:cNvPr id="5" name="Picture 4">
            <a:extLst>
              <a:ext uri="{FF2B5EF4-FFF2-40B4-BE49-F238E27FC236}">
                <a16:creationId xmlns:a16="http://schemas.microsoft.com/office/drawing/2014/main" id="{62D80A5E-DB45-4DC6-B29D-691209EFE2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95191" y="3759293"/>
            <a:ext cx="3473204" cy="2083922"/>
          </a:xfrm>
          <a:prstGeom prst="rect">
            <a:avLst/>
          </a:prstGeom>
        </p:spPr>
      </p:pic>
    </p:spTree>
    <p:extLst>
      <p:ext uri="{BB962C8B-B14F-4D97-AF65-F5344CB8AC3E}">
        <p14:creationId xmlns:p14="http://schemas.microsoft.com/office/powerpoint/2010/main" val="20472025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7D63C-7274-46FD-ADE0-0E6B7E67F662}"/>
              </a:ext>
            </a:extLst>
          </p:cNvPr>
          <p:cNvSpPr>
            <a:spLocks noGrp="1"/>
          </p:cNvSpPr>
          <p:nvPr>
            <p:ph type="title"/>
          </p:nvPr>
        </p:nvSpPr>
        <p:spPr/>
        <p:txBody>
          <a:bodyPr/>
          <a:lstStyle/>
          <a:p>
            <a:r>
              <a:rPr lang="sk-SK" dirty="0"/>
              <a:t>Súhrnné Zhodnotenie a Limitácie</a:t>
            </a:r>
          </a:p>
        </p:txBody>
      </p:sp>
      <p:sp>
        <p:nvSpPr>
          <p:cNvPr id="3" name="Content Placeholder 2">
            <a:extLst>
              <a:ext uri="{FF2B5EF4-FFF2-40B4-BE49-F238E27FC236}">
                <a16:creationId xmlns:a16="http://schemas.microsoft.com/office/drawing/2014/main" id="{8451BFE1-7436-487B-BFE9-ADC49DCF1134}"/>
              </a:ext>
            </a:extLst>
          </p:cNvPr>
          <p:cNvSpPr>
            <a:spLocks noGrp="1"/>
          </p:cNvSpPr>
          <p:nvPr>
            <p:ph idx="1"/>
          </p:nvPr>
        </p:nvSpPr>
        <p:spPr/>
        <p:txBody>
          <a:bodyPr/>
          <a:lstStyle/>
          <a:p>
            <a:pPr algn="l">
              <a:buFont typeface="Arial" panose="020B0604020202020204" pitchFamily="34" charset="0"/>
              <a:buChar char="•"/>
            </a:pPr>
            <a:r>
              <a:rPr lang="sk-SK" b="1" i="0" dirty="0">
                <a:solidFill>
                  <a:schemeClr val="tx1"/>
                </a:solidFill>
                <a:effectLst/>
                <a:latin typeface="Google Sans Text"/>
              </a:rPr>
              <a:t>Kľúčové limitácie:</a:t>
            </a:r>
            <a:endParaRPr lang="sk-SK" b="0" i="0" dirty="0">
              <a:solidFill>
                <a:schemeClr val="tx1"/>
              </a:solidFill>
              <a:effectLst/>
              <a:latin typeface="Google Sans Text"/>
            </a:endParaRPr>
          </a:p>
          <a:p>
            <a:pPr marL="742950" lvl="1" indent="-285750" algn="l">
              <a:buFont typeface="Arial" panose="020B0604020202020204" pitchFamily="34" charset="0"/>
              <a:buChar char="•"/>
            </a:pPr>
            <a:r>
              <a:rPr lang="sk-SK" b="0" i="0" dirty="0">
                <a:solidFill>
                  <a:schemeClr val="tx1"/>
                </a:solidFill>
                <a:effectLst/>
                <a:latin typeface="Google Sans Text"/>
              </a:rPr>
              <a:t>Statický zber dát (nezachytená dynamika).</a:t>
            </a:r>
          </a:p>
          <a:p>
            <a:pPr marL="742950" lvl="1" indent="-285750" algn="l">
              <a:buFont typeface="Arial" panose="020B0604020202020204" pitchFamily="34" charset="0"/>
              <a:buChar char="•"/>
            </a:pPr>
            <a:r>
              <a:rPr lang="sk-SK" b="0" i="0" dirty="0">
                <a:solidFill>
                  <a:schemeClr val="tx1"/>
                </a:solidFill>
                <a:effectLst/>
                <a:latin typeface="Google Sans Text"/>
              </a:rPr>
              <a:t>Kvalita/kompletnosť surových dát.</a:t>
            </a:r>
          </a:p>
          <a:p>
            <a:pPr marL="742950" lvl="1" indent="-285750" algn="l">
              <a:buFont typeface="Arial" panose="020B0604020202020204" pitchFamily="34" charset="0"/>
              <a:buChar char="•"/>
            </a:pPr>
            <a:r>
              <a:rPr lang="sk-SK" b="0" i="0" dirty="0">
                <a:solidFill>
                  <a:schemeClr val="tx1"/>
                </a:solidFill>
                <a:effectLst/>
                <a:latin typeface="Google Sans Text"/>
              </a:rPr>
              <a:t>Spracovanie lokalít (vysoká </a:t>
            </a:r>
            <a:r>
              <a:rPr lang="sk-SK" b="0" i="0" dirty="0" err="1">
                <a:solidFill>
                  <a:schemeClr val="tx1"/>
                </a:solidFill>
                <a:effectLst/>
                <a:latin typeface="Google Sans Text"/>
              </a:rPr>
              <a:t>kardinalita</a:t>
            </a:r>
            <a:r>
              <a:rPr lang="sk-SK" b="0" i="0" dirty="0">
                <a:solidFill>
                  <a:schemeClr val="tx1"/>
                </a:solidFill>
                <a:effectLst/>
                <a:latin typeface="Google Sans Text"/>
              </a:rPr>
              <a:t> </a:t>
            </a:r>
            <a:r>
              <a:rPr lang="sk-SK" b="0" i="0" dirty="0" err="1">
                <a:solidFill>
                  <a:schemeClr val="tx1"/>
                </a:solidFill>
                <a:effectLst/>
                <a:latin typeface="DM Mono"/>
              </a:rPr>
              <a:t>streetAddress</a:t>
            </a:r>
            <a:r>
              <a:rPr lang="sk-SK" b="0" i="0" dirty="0">
                <a:solidFill>
                  <a:schemeClr val="tx1"/>
                </a:solidFill>
                <a:effectLst/>
                <a:latin typeface="Google Sans Text"/>
              </a:rPr>
              <a:t>).</a:t>
            </a:r>
          </a:p>
          <a:p>
            <a:pPr marL="742950" lvl="1" indent="-285750" algn="l">
              <a:buFont typeface="Arial" panose="020B0604020202020204" pitchFamily="34" charset="0"/>
              <a:buChar char="•"/>
            </a:pPr>
            <a:r>
              <a:rPr lang="sk-SK" b="1" i="0" dirty="0">
                <a:solidFill>
                  <a:schemeClr val="tx1"/>
                </a:solidFill>
                <a:effectLst/>
                <a:latin typeface="Google Sans Text"/>
              </a:rPr>
              <a:t>Problém v </a:t>
            </a:r>
            <a:r>
              <a:rPr lang="sk-SK" b="1" i="0" dirty="0" err="1">
                <a:solidFill>
                  <a:schemeClr val="tx1"/>
                </a:solidFill>
                <a:effectLst/>
                <a:latin typeface="DM Mono"/>
              </a:rPr>
              <a:t>Byty_Combined</a:t>
            </a:r>
            <a:r>
              <a:rPr lang="sk-SK" b="0" i="0" dirty="0">
                <a:solidFill>
                  <a:schemeClr val="tx1"/>
                </a:solidFill>
                <a:effectLst/>
                <a:latin typeface="Google Sans Text"/>
              </a:rPr>
              <a:t>.</a:t>
            </a:r>
          </a:p>
          <a:p>
            <a:pPr marL="742950" lvl="1" indent="-285750" algn="l">
              <a:buFont typeface="Arial" panose="020B0604020202020204" pitchFamily="34" charset="0"/>
              <a:buChar char="•"/>
            </a:pPr>
            <a:r>
              <a:rPr lang="sk-SK" b="0" i="0" dirty="0">
                <a:solidFill>
                  <a:schemeClr val="tx1"/>
                </a:solidFill>
                <a:effectLst/>
                <a:latin typeface="Google Sans Text"/>
              </a:rPr>
              <a:t>Chýbajúce externé ekonomické faktory.</a:t>
            </a:r>
            <a:endParaRPr lang="en-US" b="0" i="0" dirty="0">
              <a:solidFill>
                <a:schemeClr val="tx1"/>
              </a:solidFill>
              <a:effectLst/>
              <a:latin typeface="Google Sans Text"/>
            </a:endParaRPr>
          </a:p>
          <a:p>
            <a:pPr algn="l">
              <a:buFont typeface="Arial" panose="020B0604020202020204" pitchFamily="34" charset="0"/>
              <a:buChar char="•"/>
            </a:pPr>
            <a:r>
              <a:rPr lang="sk-SK" b="1" i="0" dirty="0">
                <a:solidFill>
                  <a:schemeClr val="tx1"/>
                </a:solidFill>
                <a:effectLst/>
                <a:latin typeface="Google Sans Text"/>
              </a:rPr>
              <a:t>Možné vylepšenia:</a:t>
            </a:r>
            <a:endParaRPr lang="sk-SK" b="0" i="0" dirty="0">
              <a:solidFill>
                <a:schemeClr val="tx1"/>
              </a:solidFill>
              <a:effectLst/>
              <a:latin typeface="Google Sans Text"/>
            </a:endParaRPr>
          </a:p>
          <a:p>
            <a:pPr marL="742950" lvl="1" indent="-285750" algn="l">
              <a:buFont typeface="Arial" panose="020B0604020202020204" pitchFamily="34" charset="0"/>
              <a:buChar char="•"/>
            </a:pPr>
            <a:r>
              <a:rPr lang="sk-SK" b="0" i="0" dirty="0">
                <a:solidFill>
                  <a:schemeClr val="tx1"/>
                </a:solidFill>
                <a:effectLst/>
                <a:latin typeface="Google Sans Text"/>
              </a:rPr>
              <a:t>Dynamický (denný) zber dát.</a:t>
            </a:r>
          </a:p>
          <a:p>
            <a:pPr marL="742950" lvl="1" indent="-285750" algn="l">
              <a:buFont typeface="Arial" panose="020B0604020202020204" pitchFamily="34" charset="0"/>
              <a:buChar char="•"/>
            </a:pPr>
            <a:r>
              <a:rPr lang="sk-SK" b="0" i="0" dirty="0">
                <a:solidFill>
                  <a:schemeClr val="tx1"/>
                </a:solidFill>
                <a:effectLst/>
                <a:latin typeface="Google Sans Text"/>
              </a:rPr>
              <a:t>Pokročilejšie spracovanie lokalít.</a:t>
            </a:r>
          </a:p>
          <a:p>
            <a:pPr marL="742950" lvl="1" indent="-285750" algn="l">
              <a:buFont typeface="Arial" panose="020B0604020202020204" pitchFamily="34" charset="0"/>
              <a:buChar char="•"/>
            </a:pPr>
            <a:r>
              <a:rPr lang="sk-SK" b="0" i="0" dirty="0">
                <a:solidFill>
                  <a:schemeClr val="tx1"/>
                </a:solidFill>
                <a:effectLst/>
                <a:latin typeface="Google Sans Text"/>
              </a:rPr>
              <a:t>Iné architektúry (</a:t>
            </a:r>
            <a:r>
              <a:rPr lang="sk-SK" b="0" i="0" dirty="0" err="1">
                <a:solidFill>
                  <a:schemeClr val="tx1"/>
                </a:solidFill>
                <a:effectLst/>
                <a:latin typeface="Google Sans Text"/>
              </a:rPr>
              <a:t>XGBoost</a:t>
            </a:r>
            <a:r>
              <a:rPr lang="sk-SK" b="0" i="0" dirty="0">
                <a:solidFill>
                  <a:schemeClr val="tx1"/>
                </a:solidFill>
                <a:effectLst/>
                <a:latin typeface="Google Sans Text"/>
              </a:rPr>
              <a:t>) / stratové funkcie.</a:t>
            </a:r>
          </a:p>
          <a:p>
            <a:pPr marL="742950" lvl="1" indent="-285750" algn="l">
              <a:buFont typeface="Arial" panose="020B0604020202020204" pitchFamily="34" charset="0"/>
              <a:buChar char="•"/>
            </a:pPr>
            <a:r>
              <a:rPr lang="sk-SK" b="0" i="0" dirty="0">
                <a:solidFill>
                  <a:schemeClr val="tx1"/>
                </a:solidFill>
                <a:effectLst/>
                <a:latin typeface="Google Sans Text"/>
              </a:rPr>
              <a:t>Zahrnutie makroekonomických dát.</a:t>
            </a:r>
          </a:p>
          <a:p>
            <a:pPr marL="742950" lvl="1" indent="-285750" algn="l">
              <a:buFont typeface="Arial" panose="020B0604020202020204" pitchFamily="34" charset="0"/>
              <a:buChar char="•"/>
            </a:pPr>
            <a:endParaRPr lang="sk-SK" b="0" i="0" dirty="0">
              <a:solidFill>
                <a:schemeClr val="tx1"/>
              </a:solidFill>
              <a:effectLst/>
              <a:latin typeface="Google Sans Text"/>
            </a:endParaRPr>
          </a:p>
          <a:p>
            <a:endParaRPr lang="sk-SK" dirty="0">
              <a:solidFill>
                <a:schemeClr val="tx1"/>
              </a:solidFill>
            </a:endParaRPr>
          </a:p>
        </p:txBody>
      </p:sp>
    </p:spTree>
    <p:extLst>
      <p:ext uri="{BB962C8B-B14F-4D97-AF65-F5344CB8AC3E}">
        <p14:creationId xmlns:p14="http://schemas.microsoft.com/office/powerpoint/2010/main" val="27389383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6D43BF-ECE2-4B61-A1CF-9797E5AFEDAC}"/>
              </a:ext>
            </a:extLst>
          </p:cNvPr>
          <p:cNvSpPr>
            <a:spLocks noGrp="1"/>
          </p:cNvSpPr>
          <p:nvPr>
            <p:ph type="ctrTitle"/>
          </p:nvPr>
        </p:nvSpPr>
        <p:spPr/>
        <p:txBody>
          <a:bodyPr/>
          <a:lstStyle/>
          <a:p>
            <a:r>
              <a:rPr lang="sk-SK" dirty="0"/>
              <a:t>Ďakujem za pozornosť!</a:t>
            </a:r>
          </a:p>
        </p:txBody>
      </p:sp>
      <p:sp>
        <p:nvSpPr>
          <p:cNvPr id="3" name="Subtitle 2">
            <a:extLst>
              <a:ext uri="{FF2B5EF4-FFF2-40B4-BE49-F238E27FC236}">
                <a16:creationId xmlns:a16="http://schemas.microsoft.com/office/drawing/2014/main" id="{2D86CFC2-F07C-418C-AF77-761F47CD8684}"/>
              </a:ext>
            </a:extLst>
          </p:cNvPr>
          <p:cNvSpPr>
            <a:spLocks noGrp="1"/>
          </p:cNvSpPr>
          <p:nvPr>
            <p:ph type="subTitle" idx="1"/>
          </p:nvPr>
        </p:nvSpPr>
        <p:spPr/>
        <p:txBody>
          <a:bodyPr/>
          <a:lstStyle/>
          <a:p>
            <a:endParaRPr lang="sk-SK"/>
          </a:p>
        </p:txBody>
      </p:sp>
    </p:spTree>
    <p:extLst>
      <p:ext uri="{BB962C8B-B14F-4D97-AF65-F5344CB8AC3E}">
        <p14:creationId xmlns:p14="http://schemas.microsoft.com/office/powerpoint/2010/main" val="1935105635"/>
      </p:ext>
    </p:extLst>
  </p:cSld>
  <p:clrMapOvr>
    <a:masterClrMapping/>
  </p:clrMapOvr>
</p:sld>
</file>

<file path=ppt/theme/theme1.xml><?xml version="1.0" encoding="utf-8"?>
<a:theme xmlns:a="http://schemas.openxmlformats.org/drawingml/2006/main" name="Retrospect">
  <a:themeElements>
    <a:clrScheme name="Retrospect">
      <a:dk1>
        <a:srgbClr val="000000"/>
      </a:dk1>
      <a:lt1>
        <a:srgbClr val="FFFFFF"/>
      </a:lt1>
      <a:dk2>
        <a:srgbClr val="46464A"/>
      </a:dk2>
      <a:lt2>
        <a:srgbClr val="D1D9E1"/>
      </a:lt2>
      <a:accent1>
        <a:srgbClr val="6F6F74"/>
      </a:accent1>
      <a:accent2>
        <a:srgbClr val="A7B789"/>
      </a:accent2>
      <a:accent3>
        <a:srgbClr val="BEAE98"/>
      </a:accent3>
      <a:accent4>
        <a:srgbClr val="92A9B9"/>
      </a:accent4>
      <a:accent5>
        <a:srgbClr val="9C8265"/>
      </a:accent5>
      <a:accent6>
        <a:srgbClr val="8D6974"/>
      </a:accent6>
      <a:hlink>
        <a:srgbClr val="67AABF"/>
      </a:hlink>
      <a:folHlink>
        <a:srgbClr val="B1B5AB"/>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BAB94BD4-5D6D-4148-AB57-A4CCF1FD4E0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278</TotalTime>
  <Words>2585</Words>
  <Application>Microsoft Office PowerPoint</Application>
  <PresentationFormat>Widescreen</PresentationFormat>
  <Paragraphs>108</Paragraphs>
  <Slides>12</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Arial</vt:lpstr>
      <vt:lpstr>Calibri</vt:lpstr>
      <vt:lpstr>Calibri Light</vt:lpstr>
      <vt:lpstr>Cambria</vt:lpstr>
      <vt:lpstr>Consolas</vt:lpstr>
      <vt:lpstr>Courier New</vt:lpstr>
      <vt:lpstr>DM Mono</vt:lpstr>
      <vt:lpstr>Google Sans Text</vt:lpstr>
      <vt:lpstr>Retrospect</vt:lpstr>
      <vt:lpstr>Systém pre analýzu a predikciu cien nehnuteľností</vt:lpstr>
      <vt:lpstr>Prehľad Projektu a Motivácia</vt:lpstr>
      <vt:lpstr>Zber Dát – Architektúra a Proces</vt:lpstr>
      <vt:lpstr>Spracovanie a Čistenie Dát</vt:lpstr>
      <vt:lpstr>Exploratívna Analýza Dát (EDA) </vt:lpstr>
      <vt:lpstr> Príprava Dát pre Neurónovú Sieť</vt:lpstr>
      <vt:lpstr>Architektúra Neurónovej Siete</vt:lpstr>
      <vt:lpstr>Výsledky Modelu – Byty_Predaj</vt:lpstr>
      <vt:lpstr>Výsledky Modelu – Byty_Prenájom</vt:lpstr>
      <vt:lpstr>Výsledky Modelu – Byty_Combined</vt:lpstr>
      <vt:lpstr>Súhrnné Zhodnotenie a Limitácie</vt:lpstr>
      <vt:lpstr>Ďakujem za pozornosť!</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Systém pre Analýzu a Predikciu Cien Nehnuteľností s Využitím Hĺbkového Učenia</dc:title>
  <dc:creator>STUD - Adam Jesenský</dc:creator>
  <cp:lastModifiedBy>STUD - Adam Jesenský</cp:lastModifiedBy>
  <cp:revision>12</cp:revision>
  <dcterms:created xsi:type="dcterms:W3CDTF">2025-06-01T21:42:23Z</dcterms:created>
  <dcterms:modified xsi:type="dcterms:W3CDTF">2025-06-02T11:55:11Z</dcterms:modified>
</cp:coreProperties>
</file>